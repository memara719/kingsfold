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236709c-0ca4-b90e-d940-382dcea578be}">
          <p14:sldIdLst>
            <p14:sldId id="256"/>
            <p14:sldId id="257"/>
          </p14:sldIdLst>
        </p14:section>
        <p14:section name="Design process" id="{ab23174a-780f-7ab4-880a-f09f2d6b3730}">
          <p14:sldIdLst>
            <p14:sldId id="258"/>
            <p14:sldId id="259"/>
            <p14:sldId id="260"/>
            <p14:sldId id="261"/>
            <p14:sldId id="262"/>
            <p14:sldId id="263"/>
            <p14:sldId id="264"/>
            <p14:sldId id="265"/>
          </p14:sldIdLst>
        </p14:section>
        <p14:section name="Demo" id="{9cfd9cf3-1add-ead4-fec9-8e67cf4fdba6}">
          <p14:sldIdLst>
            <p14:sldId id="266"/>
            <p14:sldId id="267"/>
          </p14:sldIdLst>
        </p14:section>
        <p14:section name="Wrap-up" id="{b0f16685-253e-ddef-9e76-5900f4dfa13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[team]. We're Daniyal, Mustafa, Abdullah and Taha. This morning we built Catan: Cold War Edition. It's classic Catan set in 1953, except you can get uranium and, well, nuke a tile. We'll quickly cover what Catan is, how we got from a blank whiteboard to this, then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Catan recap for anyone who hasn't played. The whole game is this loop: roll the dice, every tile with that number pays the people living next to it, you trade for what you're missing, and you build. Roads let you expand, settlements give points, and first to 10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like Catan, but we noticed the same three complaints every time we play: it takes forever, someone new always has to sit through the rules, and you can't really play it with friends who aren't in the room. We didn't want to throw out what makes Catan good, so our problem statement was simple: make the best version of Catan, with one twist big enough to change how people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pretty much our whiteboard at 9am. We threw out a bunch of themes and twists, no idea too dumb, then everyone got three votes. The crossed out ones lost. The nuke idea won the twist vote by a mile, and we decided to keep everything else from classic Catan.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settle the theme argument we did a quick weighted decision matrix. We weighted fun and easy-to-learn highest because those were our objectives. Medieval was safe, but Atomic Age was more original and naturally gave us a new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engineering design stuff. Objectives are the things we wanted to maximize. Constraints were hard limits: we had to use Python and pygame, it had to run on any laptop with just pygame installed, and we only had one day. Functions are what the game actually has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everything we changed. We kept the classic rules and just re-themed them, then added one big idea: the nuke. Uranium comes from Uranium Shipment dev cards. With 3 uranium and 1 ore you build a nuke, and next turn you can launch it at any hex. That hex never produces again, for anyone. The buildings around it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version this morning was all keyboard and terminal: SPACE to roll, E to end the turn, and the dice roll themselves after 10 seconds so nobody stalls. Once the rules worked, we rebuilt the screen: you click on the board to build, and the side panel shows your hand, the orders and the scoreboard.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decision was keeping all the rules in backend.py with no graphics at all. That made it easy to test, and the screen code only reads the game state and calls actions. If you try something illegal, the rules explain why instead of just ignoring your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has a test, 30 in total, and they all pass. Our favourite balance problem: the first nuke cost 5 uranium and nobody ever built one, so the whole twist never happened. We dropped it to 3 uranium plus 1 ore and made uranium come from dev cards, and now it shows up in most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plan: 1) start a 4 player game. 2) Place the setup houses and roads. 3) Roll, collect, build. 4) Buy dev cards until someone gets a Uranium Shipment, build a nuke and launch it. If the laptop acts up, flip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screenshots: a fresh board, a game in progress with the side panel, and the launch confirmation that tells you exactly which hex you're about to nuke.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had another Saturday: online play is the big one, so friends don't have to share one laptop. Then bots for empty seats, sound, saving games, and a colour-blind friendly mode since player colours matter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thanks! Happy to take questions about the game, the code, or why we thought adding nukes to Catan was a good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206240" cy="13258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240280"/>
            <a:ext cx="402336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148840"/>
            <a:ext cx="4572000" cy="164592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206240" cy="1325880"/>
          </a:xfrm>
          <a:prstGeom prst="rect">
            <a:avLst/>
          </a:prstGeom>
          <a:noFill/>
          <a:ln/>
        </p:spPr>
        <p:txBody>
          <a:bodyPr wrap="square" lIns="0" tIns="0" rIns="0" bIns="0" rtlCol="0" anchor="b"/>
          <a:lstStyle/>
          <a:p>
            <a:pPr algn="l" indent="0" marL="0">
              <a:buNone/>
            </a:pPr>
            <a:r>
              <a:rPr lang="en-US" sz="4800" b="1" dirty="0">
                <a:solidFill>
                  <a:schemeClr val="bg1"/>
                </a:solidFill>
              </a:rPr>
              <a:t>Catan: Cold War Edition</a:t>
            </a:r>
            <a:endParaRPr lang="en-US" sz="4800" dirty="0"/>
          </a:p>
        </p:txBody>
      </p:sp>
      <p:sp>
        <p:nvSpPr>
          <p:cNvPr id="3" name="Text 0"/>
          <p:cNvSpPr/>
          <p:nvPr>
            <p:ph idx="101" type="body" hasCustomPrompt="1"/>
          </p:nvPr>
        </p:nvSpPr>
        <p:spPr>
          <a:xfrm>
            <a:off x="548640" y="2240280"/>
            <a:ext cx="4023360" cy="822960"/>
          </a:xfrm>
          <a:prstGeom prst="rect">
            <a:avLst/>
          </a:prstGeom>
          <a:noFill/>
          <a:ln/>
        </p:spPr>
        <p:txBody>
          <a:bodyPr wrap="square" lIns="0" tIns="0" rIns="0" bIns="0" rtlCol="0" anchor="t"/>
          <a:lstStyle/>
          <a:p>
            <a:pPr algn="l" indent="0" marL="0">
              <a:buNone/>
            </a:pPr>
            <a:r>
              <a:rPr lang="en-US" sz="2000" dirty="0">
                <a:solidFill>
                  <a:schemeClr val="accent2"/>
                </a:solidFill>
              </a:rPr>
              <a:t>Our Catan remake, set in the atomic age</a:t>
            </a:r>
            <a:endParaRPr lang="en-US" sz="2000" dirty="0"/>
          </a:p>
        </p:txBody>
      </p:sp>
      <p:sp>
        <p:nvSpPr>
          <p:cNvPr id="4" name="event and team"/>
          <p:cNvSpPr txBox="1"/>
          <p:nvPr/>
        </p:nvSpPr>
        <p:spPr>
          <a:xfrm>
            <a:off x="548640" y="3840480"/>
            <a:ext cx="4023360" cy="640080"/>
          </a:xfrm>
          <a:prstGeom prst="rect">
            <a:avLst/>
          </a:prstGeom>
          <a:noFill/>
          <a:ln/>
        </p:spPr>
        <p:txBody>
          <a:bodyPr wrap="square" lIns="0" tIns="0" rIns="0" bIns="0" rtlCol="0" anchor="ctr"/>
          <a:lstStyle/>
          <a:p>
            <a:pPr indent="0" marL="0">
              <a:buNone/>
            </a:pPr>
            <a:r>
              <a:rPr lang="en-US" sz="1400" dirty="0">
                <a:solidFill>
                  <a:schemeClr val="bg2"/>
                </a:solidFill>
              </a:rPr>
              <a:t>Saskatoon Engineering Competition 2026</a:t>
            </a:r>
            <a:endParaRPr lang="en-US" sz="1400" dirty="0"/>
          </a:p>
          <a:p>
            <a:pPr indent="0" marL="0">
              <a:buNone/>
            </a:pPr>
            <a:r>
              <a:rPr lang="en-US" sz="1400" dirty="0">
                <a:solidFill>
                  <a:schemeClr val="bg2"/>
                </a:solidFill>
              </a:rPr>
              <a:t>Team: Daniyal, Mustafa, Abdullah, Taha</a:t>
            </a:r>
            <a:endParaRPr lang="en-US" sz="1400" dirty="0"/>
          </a:p>
        </p:txBody>
      </p:sp>
      <p:pic>
        <p:nvPicPr>
          <p:cNvPr id="5" name="Start screen of the game" descr="Start screen of the game">    </p:cNvPr>
          <p:cNvPicPr>
            <a:picLocks noChangeAspect="1"/>
          </p:cNvPicPr>
          <p:nvPr/>
        </p:nvPicPr>
        <p:blipFill>
          <a:blip r:embed="rId1"/>
          <a:stretch>
            <a:fillRect/>
          </a:stretch>
        </p:blipFill>
        <p:spPr>
          <a:xfrm>
            <a:off x="4846320" y="1097280"/>
            <a:ext cx="3840480" cy="2560320"/>
          </a:xfrm>
          <a:prstGeom prst="rect">
            <a:avLst/>
          </a:prstGeom>
        </p:spPr>
      </p:pic>
      <p:sp>
        <p:nvSpPr>
          <p:cNvPr id="6" name="Start screen of the game frame"/>
          <p:cNvSpPr/>
          <p:nvPr/>
        </p:nvSpPr>
        <p:spPr>
          <a:xfrm>
            <a:off x="4846320" y="1097280"/>
            <a:ext cx="3840480" cy="2560320"/>
          </a:xfrm>
          <a:prstGeom prst="rect">
            <a:avLst/>
          </a:prstGeom>
          <a:ln w="12700">
            <a:solidFill>
              <a:schemeClr val="tx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First, what is Catan?</a:t>
            </a:r>
            <a:endParaRPr lang="en-US" sz="3200" dirty="0"/>
          </a:p>
        </p:txBody>
      </p:sp>
      <p:sp>
        <p:nvSpPr>
          <p:cNvPr id="3" name="catan basics"/>
          <p:cNvSpPr txBox="1"/>
          <p:nvPr/>
        </p:nvSpPr>
        <p:spPr>
          <a:xfrm>
            <a:off x="457200" y="1188720"/>
            <a:ext cx="4206240" cy="329184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 board game from 1995 by Klaus Teuber, one of the best-selling board games ever</a:t>
            </a:r>
            <a:endParaRPr lang="en-US" sz="1600" dirty="0"/>
          </a:p>
          <a:p>
            <a:pPr marL="342900" indent="-342900">
              <a:spcAft>
                <a:spcPts val="800"/>
              </a:spcAft>
              <a:buSzPct val="100000"/>
              <a:buChar char="•"/>
            </a:pPr>
            <a:r>
              <a:rPr lang="en-US" sz="1600" dirty="0">
                <a:solidFill>
                  <a:schemeClr val="tx1"/>
                </a:solidFill>
              </a:rPr>
              <a:t>The board is an island of hexagon tiles: forest, hills, fields and more</a:t>
            </a:r>
            <a:endParaRPr lang="en-US" sz="1600" dirty="0"/>
          </a:p>
          <a:p>
            <a:pPr marL="342900" indent="-342900">
              <a:spcAft>
                <a:spcPts val="800"/>
              </a:spcAft>
              <a:buSzPct val="100000"/>
              <a:buChar char="•"/>
            </a:pPr>
            <a:r>
              <a:rPr lang="en-US" sz="1600" dirty="0">
                <a:solidFill>
                  <a:schemeClr val="tx1"/>
                </a:solidFill>
              </a:rPr>
              <a:t>Each tile has a number. Roll the dice, and tiles with that number pay resources</a:t>
            </a:r>
            <a:endParaRPr lang="en-US" sz="1600" dirty="0"/>
          </a:p>
          <a:p>
            <a:pPr marL="342900" indent="-342900">
              <a:spcAft>
                <a:spcPts val="800"/>
              </a:spcAft>
              <a:buSzPct val="100000"/>
              <a:buChar char="•"/>
            </a:pPr>
            <a:r>
              <a:rPr lang="en-US" sz="1600" dirty="0">
                <a:solidFill>
                  <a:schemeClr val="tx1"/>
                </a:solidFill>
              </a:rPr>
              <a:t>Spend resources on roads, settlements and cities. First to 10 points wins</a:t>
            </a:r>
            <a:endParaRPr lang="en-US" sz="1600" dirty="0"/>
          </a:p>
        </p:txBody>
      </p:sp>
      <p:sp>
        <p:nvSpPr>
          <p:cNvPr id="4" name="Roll circle"/>
          <p:cNvSpPr/>
          <p:nvPr/>
        </p:nvSpPr>
        <p:spPr>
          <a:xfrm>
            <a:off x="6720840" y="1188720"/>
            <a:ext cx="1005840" cy="1005840"/>
          </a:xfrm>
          <a:prstGeom prst="ellipse">
            <a:avLst/>
          </a:prstGeom>
          <a:solidFill>
            <a:schemeClr val="accent2"/>
          </a:solidFill>
          <a:ln w="19050">
            <a:solidFill>
              <a:schemeClr val="tx2"/>
            </a:solidFill>
            <a:prstDash val="solid"/>
          </a:ln>
        </p:spPr>
      </p:sp>
      <p:sp>
        <p:nvSpPr>
          <p:cNvPr id="5" name="Roll label"/>
          <p:cNvSpPr txBox="1"/>
          <p:nvPr/>
        </p:nvSpPr>
        <p:spPr>
          <a:xfrm>
            <a:off x="6720840" y="1188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Roll</a:t>
            </a:r>
            <a:endParaRPr lang="en-US" sz="1600" dirty="0"/>
          </a:p>
        </p:txBody>
      </p:sp>
      <p:sp>
        <p:nvSpPr>
          <p:cNvPr id="6" name="Collect circle"/>
          <p:cNvSpPr/>
          <p:nvPr/>
        </p:nvSpPr>
        <p:spPr>
          <a:xfrm>
            <a:off x="7909560" y="2331720"/>
            <a:ext cx="1005840" cy="1005840"/>
          </a:xfrm>
          <a:prstGeom prst="ellipse">
            <a:avLst/>
          </a:prstGeom>
          <a:solidFill>
            <a:schemeClr val="bg2"/>
          </a:solidFill>
          <a:ln w="19050">
            <a:solidFill>
              <a:schemeClr val="tx2"/>
            </a:solidFill>
            <a:prstDash val="solid"/>
          </a:ln>
        </p:spPr>
      </p:sp>
      <p:sp>
        <p:nvSpPr>
          <p:cNvPr id="7" name="Collect label"/>
          <p:cNvSpPr txBox="1"/>
          <p:nvPr/>
        </p:nvSpPr>
        <p:spPr>
          <a:xfrm>
            <a:off x="7909560" y="2331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Collect</a:t>
            </a:r>
            <a:endParaRPr lang="en-US" sz="1600" dirty="0"/>
          </a:p>
        </p:txBody>
      </p:sp>
      <p:sp>
        <p:nvSpPr>
          <p:cNvPr id="8" name="Trade circle"/>
          <p:cNvSpPr/>
          <p:nvPr/>
        </p:nvSpPr>
        <p:spPr>
          <a:xfrm>
            <a:off x="6720840" y="3474720"/>
            <a:ext cx="1005840" cy="1005840"/>
          </a:xfrm>
          <a:prstGeom prst="ellipse">
            <a:avLst/>
          </a:prstGeom>
          <a:solidFill>
            <a:schemeClr val="bg2"/>
          </a:solidFill>
          <a:ln w="19050">
            <a:solidFill>
              <a:schemeClr val="tx2"/>
            </a:solidFill>
            <a:prstDash val="solid"/>
          </a:ln>
        </p:spPr>
      </p:sp>
      <p:sp>
        <p:nvSpPr>
          <p:cNvPr id="9" name="Trade label"/>
          <p:cNvSpPr txBox="1"/>
          <p:nvPr/>
        </p:nvSpPr>
        <p:spPr>
          <a:xfrm>
            <a:off x="6720840" y="3474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Trade</a:t>
            </a:r>
            <a:endParaRPr lang="en-US" sz="1600" dirty="0"/>
          </a:p>
        </p:txBody>
      </p:sp>
      <p:sp>
        <p:nvSpPr>
          <p:cNvPr id="10" name="Build circle"/>
          <p:cNvSpPr/>
          <p:nvPr/>
        </p:nvSpPr>
        <p:spPr>
          <a:xfrm>
            <a:off x="5532120" y="2331720"/>
            <a:ext cx="1005840" cy="1005840"/>
          </a:xfrm>
          <a:prstGeom prst="ellipse">
            <a:avLst/>
          </a:prstGeom>
          <a:solidFill>
            <a:schemeClr val="bg2"/>
          </a:solidFill>
          <a:ln w="19050">
            <a:solidFill>
              <a:schemeClr val="tx2"/>
            </a:solidFill>
            <a:prstDash val="solid"/>
          </a:ln>
        </p:spPr>
      </p:sp>
      <p:sp>
        <p:nvSpPr>
          <p:cNvPr id="11" name="Build label"/>
          <p:cNvSpPr txBox="1"/>
          <p:nvPr/>
        </p:nvSpPr>
        <p:spPr>
          <a:xfrm>
            <a:off x="5532120" y="2331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Build</a:t>
            </a:r>
            <a:endParaRPr lang="en-US" sz="1600" dirty="0"/>
          </a:p>
        </p:txBody>
      </p:sp>
      <p:sp>
        <p:nvSpPr>
          <p:cNvPr id="12" name="roll to collect"/>
          <p:cNvSpPr/>
          <p:nvPr/>
        </p:nvSpPr>
        <p:spPr>
          <a:xfrm>
            <a:off x="7635240" y="2011680"/>
            <a:ext cx="365760" cy="365760"/>
          </a:xfrm>
          <a:prstGeom prst="line">
            <a:avLst/>
          </a:prstGeom>
          <a:noFill/>
          <a:ln w="19050">
            <a:solidFill>
              <a:schemeClr val="tx2"/>
            </a:solidFill>
            <a:prstDash val="solid"/>
            <a:tailEnd type="triangle"/>
          </a:ln>
        </p:spPr>
      </p:sp>
      <p:sp>
        <p:nvSpPr>
          <p:cNvPr id="13" name="collect to trade"/>
          <p:cNvSpPr/>
          <p:nvPr/>
        </p:nvSpPr>
        <p:spPr>
          <a:xfrm flipH="1">
            <a:off x="7635240" y="3246120"/>
            <a:ext cx="365760" cy="365760"/>
          </a:xfrm>
          <a:prstGeom prst="line">
            <a:avLst/>
          </a:prstGeom>
          <a:noFill/>
          <a:ln w="19050">
            <a:solidFill>
              <a:schemeClr val="tx2"/>
            </a:solidFill>
            <a:prstDash val="solid"/>
            <a:tailEnd type="triangle"/>
          </a:ln>
        </p:spPr>
      </p:sp>
      <p:sp>
        <p:nvSpPr>
          <p:cNvPr id="14" name="trade to build"/>
          <p:cNvSpPr/>
          <p:nvPr/>
        </p:nvSpPr>
        <p:spPr>
          <a:xfrm flipH="1" flipV="1">
            <a:off x="6263640" y="3246120"/>
            <a:ext cx="365760" cy="365760"/>
          </a:xfrm>
          <a:prstGeom prst="line">
            <a:avLst/>
          </a:prstGeom>
          <a:noFill/>
          <a:ln w="19050">
            <a:solidFill>
              <a:schemeClr val="tx2"/>
            </a:solidFill>
            <a:prstDash val="solid"/>
            <a:tailEnd type="triangle"/>
          </a:ln>
        </p:spPr>
      </p:sp>
      <p:sp>
        <p:nvSpPr>
          <p:cNvPr id="15" name="build to roll"/>
          <p:cNvSpPr/>
          <p:nvPr/>
        </p:nvSpPr>
        <p:spPr>
          <a:xfrm flipV="1">
            <a:off x="6263640" y="2011680"/>
            <a:ext cx="365760" cy="365760"/>
          </a:xfrm>
          <a:prstGeom prst="line">
            <a:avLst/>
          </a:prstGeom>
          <a:noFill/>
          <a:ln w="19050">
            <a:solidFill>
              <a:schemeClr val="tx2"/>
            </a:solidFill>
            <a:prstDash val="solid"/>
            <a:tailEnd type="triangle"/>
          </a:ln>
        </p:spPr>
      </p:sp>
      <p:sp>
        <p:nvSpPr>
          <p:cNvPr id="16" name="loop caption"/>
          <p:cNvSpPr txBox="1"/>
          <p:nvPr/>
        </p:nvSpPr>
        <p:spPr>
          <a:xfrm>
            <a:off x="5120640" y="4526280"/>
            <a:ext cx="3657600" cy="320040"/>
          </a:xfrm>
          <a:prstGeom prst="rect">
            <a:avLst/>
          </a:prstGeom>
          <a:noFill/>
          <a:ln/>
        </p:spPr>
        <p:txBody>
          <a:bodyPr wrap="square" lIns="0" tIns="0" rIns="0" bIns="0" rtlCol="0" anchor="ctr"/>
          <a:lstStyle/>
          <a:p>
            <a:pPr algn="ctr" indent="0" marL="0">
              <a:buNone/>
            </a:pPr>
            <a:r>
              <a:rPr lang="en-US" sz="1200" i="1" dirty="0">
                <a:solidFill>
                  <a:schemeClr val="accent5"/>
                </a:solidFill>
              </a:rPr>
              <a:t>Every turn: roll, collect, trade, build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problem we picked</a:t>
            </a:r>
            <a:endParaRPr lang="en-US" sz="3200" dirty="0"/>
          </a:p>
        </p:txBody>
      </p:sp>
      <p:sp>
        <p:nvSpPr>
          <p:cNvPr id="3" name="Long games box"/>
          <p:cNvSpPr/>
          <p:nvPr/>
        </p:nvSpPr>
        <p:spPr>
          <a:xfrm>
            <a:off x="457200" y="1188720"/>
            <a:ext cx="2606040" cy="1371600"/>
          </a:xfrm>
          <a:prstGeom prst="rect">
            <a:avLst/>
          </a:prstGeom>
          <a:solidFill>
            <a:schemeClr val="bg2"/>
          </a:solidFill>
          <a:ln/>
        </p:spPr>
      </p:sp>
      <p:sp>
        <p:nvSpPr>
          <p:cNvPr id="4" name="Long games title"/>
          <p:cNvSpPr txBox="1"/>
          <p:nvPr/>
        </p:nvSpPr>
        <p:spPr>
          <a:xfrm>
            <a:off x="640080" y="1325880"/>
            <a:ext cx="2240280" cy="457200"/>
          </a:xfrm>
          <a:prstGeom prst="rect">
            <a:avLst/>
          </a:prstGeom>
          <a:noFill/>
          <a:ln/>
        </p:spPr>
        <p:txBody>
          <a:bodyPr wrap="square" lIns="0" tIns="0" rIns="0" bIns="0" rtlCol="0" anchor="ctr"/>
          <a:lstStyle/>
          <a:p>
            <a:pPr indent="0" marL="0">
              <a:buNone/>
            </a:pPr>
            <a:r>
              <a:rPr lang="en-US" sz="2200" b="1" dirty="0">
                <a:solidFill>
                  <a:schemeClr val="accent3"/>
                </a:solidFill>
              </a:rPr>
              <a:t>Long games</a:t>
            </a:r>
            <a:endParaRPr lang="en-US" sz="2200" dirty="0"/>
          </a:p>
        </p:txBody>
      </p:sp>
      <p:sp>
        <p:nvSpPr>
          <p:cNvPr id="5" name="Long games text"/>
          <p:cNvSpPr txBox="1"/>
          <p:nvPr/>
        </p:nvSpPr>
        <p:spPr>
          <a:xfrm>
            <a:off x="640080" y="1783080"/>
            <a:ext cx="2240280" cy="685800"/>
          </a:xfrm>
          <a:prstGeom prst="rect">
            <a:avLst/>
          </a:prstGeom>
          <a:noFill/>
          <a:ln/>
        </p:spPr>
        <p:txBody>
          <a:bodyPr wrap="square" lIns="0" tIns="0" rIns="0" bIns="0" rtlCol="0" anchor="t"/>
          <a:lstStyle/>
          <a:p>
            <a:pPr indent="0" marL="0">
              <a:buNone/>
            </a:pPr>
            <a:r>
              <a:rPr lang="en-US" sz="1400" dirty="0">
                <a:solidFill>
                  <a:schemeClr val="tx1"/>
                </a:solidFill>
              </a:rPr>
              <a:t>A full game easily runs over an hour.</a:t>
            </a:r>
            <a:endParaRPr lang="en-US" sz="1400" dirty="0"/>
          </a:p>
        </p:txBody>
      </p:sp>
      <p:sp>
        <p:nvSpPr>
          <p:cNvPr id="6" name="Rules first box"/>
          <p:cNvSpPr/>
          <p:nvPr/>
        </p:nvSpPr>
        <p:spPr>
          <a:xfrm>
            <a:off x="3246120" y="1188720"/>
            <a:ext cx="2606040" cy="1371600"/>
          </a:xfrm>
          <a:prstGeom prst="rect">
            <a:avLst/>
          </a:prstGeom>
          <a:solidFill>
            <a:schemeClr val="bg2"/>
          </a:solidFill>
          <a:ln/>
        </p:spPr>
      </p:sp>
      <p:sp>
        <p:nvSpPr>
          <p:cNvPr id="7" name="Rules first title"/>
          <p:cNvSpPr txBox="1"/>
          <p:nvPr/>
        </p:nvSpPr>
        <p:spPr>
          <a:xfrm>
            <a:off x="3429000" y="1325880"/>
            <a:ext cx="2240280" cy="457200"/>
          </a:xfrm>
          <a:prstGeom prst="rect">
            <a:avLst/>
          </a:prstGeom>
          <a:noFill/>
          <a:ln/>
        </p:spPr>
        <p:txBody>
          <a:bodyPr wrap="square" lIns="0" tIns="0" rIns="0" bIns="0" rtlCol="0" anchor="ctr"/>
          <a:lstStyle/>
          <a:p>
            <a:pPr indent="0" marL="0">
              <a:buNone/>
            </a:pPr>
            <a:r>
              <a:rPr lang="en-US" sz="2200" b="1" dirty="0">
                <a:solidFill>
                  <a:schemeClr val="accent3"/>
                </a:solidFill>
              </a:rPr>
              <a:t>Rules first</a:t>
            </a:r>
            <a:endParaRPr lang="en-US" sz="2200" dirty="0"/>
          </a:p>
        </p:txBody>
      </p:sp>
      <p:sp>
        <p:nvSpPr>
          <p:cNvPr id="8" name="Rules first text"/>
          <p:cNvSpPr txBox="1"/>
          <p:nvPr/>
        </p:nvSpPr>
        <p:spPr>
          <a:xfrm>
            <a:off x="3429000" y="1783080"/>
            <a:ext cx="2240280" cy="685800"/>
          </a:xfrm>
          <a:prstGeom prst="rect">
            <a:avLst/>
          </a:prstGeom>
          <a:noFill/>
          <a:ln/>
        </p:spPr>
        <p:txBody>
          <a:bodyPr wrap="square" lIns="0" tIns="0" rIns="0" bIns="0" rtlCol="0" anchor="t"/>
          <a:lstStyle/>
          <a:p>
            <a:pPr indent="0" marL="0">
              <a:buNone/>
            </a:pPr>
            <a:r>
              <a:rPr lang="en-US" sz="1400" dirty="0">
                <a:solidFill>
                  <a:schemeClr val="tx1"/>
                </a:solidFill>
              </a:rPr>
              <a:t>New players read a rulebook before their first roll.</a:t>
            </a:r>
            <a:endParaRPr lang="en-US" sz="1400" dirty="0"/>
          </a:p>
        </p:txBody>
      </p:sp>
      <p:sp>
        <p:nvSpPr>
          <p:cNvPr id="9" name="Same table box"/>
          <p:cNvSpPr/>
          <p:nvPr/>
        </p:nvSpPr>
        <p:spPr>
          <a:xfrm>
            <a:off x="6035040" y="1188720"/>
            <a:ext cx="2606040" cy="1371600"/>
          </a:xfrm>
          <a:prstGeom prst="rect">
            <a:avLst/>
          </a:prstGeom>
          <a:solidFill>
            <a:schemeClr val="bg2"/>
          </a:solidFill>
          <a:ln/>
        </p:spPr>
      </p:sp>
      <p:sp>
        <p:nvSpPr>
          <p:cNvPr id="10" name="Same table title"/>
          <p:cNvSpPr txBox="1"/>
          <p:nvPr/>
        </p:nvSpPr>
        <p:spPr>
          <a:xfrm>
            <a:off x="6217920" y="1325880"/>
            <a:ext cx="2240280" cy="457200"/>
          </a:xfrm>
          <a:prstGeom prst="rect">
            <a:avLst/>
          </a:prstGeom>
          <a:noFill/>
          <a:ln/>
        </p:spPr>
        <p:txBody>
          <a:bodyPr wrap="square" lIns="0" tIns="0" rIns="0" bIns="0" rtlCol="0" anchor="ctr"/>
          <a:lstStyle/>
          <a:p>
            <a:pPr indent="0" marL="0">
              <a:buNone/>
            </a:pPr>
            <a:r>
              <a:rPr lang="en-US" sz="2200" b="1" dirty="0">
                <a:solidFill>
                  <a:schemeClr val="accent3"/>
                </a:solidFill>
              </a:rPr>
              <a:t>Same table</a:t>
            </a:r>
            <a:endParaRPr lang="en-US" sz="2200" dirty="0"/>
          </a:p>
        </p:txBody>
      </p:sp>
      <p:sp>
        <p:nvSpPr>
          <p:cNvPr id="11" name="Same table text"/>
          <p:cNvSpPr txBox="1"/>
          <p:nvPr/>
        </p:nvSpPr>
        <p:spPr>
          <a:xfrm>
            <a:off x="6217920" y="1783080"/>
            <a:ext cx="2240280" cy="685800"/>
          </a:xfrm>
          <a:prstGeom prst="rect">
            <a:avLst/>
          </a:prstGeom>
          <a:noFill/>
          <a:ln/>
        </p:spPr>
        <p:txBody>
          <a:bodyPr wrap="square" lIns="0" tIns="0" rIns="0" bIns="0" rtlCol="0" anchor="t"/>
          <a:lstStyle/>
          <a:p>
            <a:pPr indent="0" marL="0">
              <a:buNone/>
            </a:pPr>
            <a:r>
              <a:rPr lang="en-US" sz="1400" dirty="0">
                <a:solidFill>
                  <a:schemeClr val="tx1"/>
                </a:solidFill>
              </a:rPr>
              <a:t>Everyone has to be in the same room.</a:t>
            </a:r>
            <a:endParaRPr lang="en-US" sz="1400" dirty="0"/>
          </a:p>
        </p:txBody>
      </p:sp>
      <p:sp>
        <p:nvSpPr>
          <p:cNvPr id="12" name="problem statement"/>
          <p:cNvSpPr txBox="1"/>
          <p:nvPr/>
        </p:nvSpPr>
        <p:spPr>
          <a:xfrm>
            <a:off x="457200" y="2971800"/>
            <a:ext cx="8229600" cy="1371600"/>
          </a:xfrm>
          <a:prstGeom prst="rect">
            <a:avLst/>
          </a:prstGeom>
          <a:noFill/>
          <a:ln/>
        </p:spPr>
        <p:txBody>
          <a:bodyPr wrap="square" lIns="0" tIns="0" rIns="0" bIns="0" rtlCol="0" anchor="t"/>
          <a:lstStyle/>
          <a:p>
            <a:pPr indent="0" marL="0">
              <a:buNone/>
            </a:pPr>
            <a:r>
              <a:rPr lang="en-US" sz="1600" b="1" dirty="0">
                <a:solidFill>
                  <a:schemeClr val="tx2"/>
                </a:solidFill>
              </a:rPr>
              <a:t>Problem statement</a:t>
            </a:r>
            <a:endParaRPr lang="en-US" sz="1600" dirty="0"/>
          </a:p>
          <a:p>
            <a:pPr indent="0" marL="0">
              <a:buNone/>
            </a:pPr>
            <a:r>
              <a:rPr lang="en-US" sz="2000" dirty="0">
                <a:solidFill>
                  <a:schemeClr val="tx1"/>
                </a:solidFill>
              </a:rPr>
              <a:t>Make the best version of Catan: keep the rules people already love, and add one twist that makes every game feel different.</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Saturday morning brainstorm</a:t>
            </a:r>
            <a:endParaRPr lang="en-US" sz="3200" dirty="0"/>
          </a:p>
        </p:txBody>
      </p:sp>
      <p:sp>
        <p:nvSpPr>
          <p:cNvPr id="3" name="sticky Medieval kingdom"/>
          <p:cNvSpPr/>
          <p:nvPr/>
        </p:nvSpPr>
        <p:spPr>
          <a:xfrm rot="-180000">
            <a:off x="5486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4" name="sticky text Medieval kingdom"/>
          <p:cNvSpPr txBox="1"/>
          <p:nvPr/>
        </p:nvSpPr>
        <p:spPr>
          <a:xfrm rot="-180000">
            <a:off x="640080" y="1188720"/>
            <a:ext cx="1600200" cy="777240"/>
          </a:xfrm>
          <a:prstGeom prst="rect">
            <a:avLst/>
          </a:prstGeom>
          <a:noFill/>
          <a:ln/>
        </p:spPr>
        <p:txBody>
          <a:bodyPr wrap="square" lIns="0" tIns="0" rIns="0" bIns="0" rtlCol="0" anchor="ctr"/>
          <a:lstStyle/>
          <a:p>
            <a:pPr algn="ctr" indent="0" marL="0">
              <a:buNone/>
            </a:pPr>
            <a:r>
              <a:rPr lang="en-US" sz="1400" dirty="0">
                <a:solidFill>
                  <a:srgbClr val="333333"/>
                </a:solidFill>
              </a:rPr>
              <a:t>Medieval kingdom</a:t>
            </a:r>
            <a:endParaRPr lang="en-US" sz="1400" dirty="0"/>
          </a:p>
        </p:txBody>
      </p:sp>
      <p:sp>
        <p:nvSpPr>
          <p:cNvPr id="5" name="sticky Wasteland rebuild"/>
          <p:cNvSpPr/>
          <p:nvPr/>
        </p:nvSpPr>
        <p:spPr>
          <a:xfrm rot="120000">
            <a:off x="26060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6" name="sticky text Wasteland rebuild"/>
          <p:cNvSpPr txBox="1"/>
          <p:nvPr/>
        </p:nvSpPr>
        <p:spPr>
          <a:xfrm rot="120000">
            <a:off x="2697480" y="118872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Wasteland rebuild</a:t>
            </a:r>
            <a:endParaRPr lang="en-US" sz="1400" dirty="0"/>
          </a:p>
        </p:txBody>
      </p:sp>
      <p:sp>
        <p:nvSpPr>
          <p:cNvPr id="7" name="sticky Power grid tycoon"/>
          <p:cNvSpPr/>
          <p:nvPr/>
        </p:nvSpPr>
        <p:spPr>
          <a:xfrm rot="-60000">
            <a:off x="46634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8" name="sticky text Power grid tycoon"/>
          <p:cNvSpPr txBox="1"/>
          <p:nvPr/>
        </p:nvSpPr>
        <p:spPr>
          <a:xfrm rot="-60000">
            <a:off x="4754880" y="118872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Power grid tycoon</a:t>
            </a:r>
            <a:endParaRPr lang="en-US" sz="1400" dirty="0"/>
          </a:p>
        </p:txBody>
      </p:sp>
      <p:sp>
        <p:nvSpPr>
          <p:cNvPr id="9" name="sticky Atomic Age 1950s"/>
          <p:cNvSpPr/>
          <p:nvPr/>
        </p:nvSpPr>
        <p:spPr>
          <a:xfrm rot="180000">
            <a:off x="67208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10" name="sticky text Atomic Age 1950s"/>
          <p:cNvSpPr txBox="1"/>
          <p:nvPr/>
        </p:nvSpPr>
        <p:spPr>
          <a:xfrm rot="180000">
            <a:off x="6812280" y="118872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Atomic Age 1950s</a:t>
            </a:r>
            <a:endParaRPr lang="en-US" sz="1400" dirty="0"/>
          </a:p>
        </p:txBody>
      </p:sp>
      <p:sp>
        <p:nvSpPr>
          <p:cNvPr id="11" name="sticky Reactors make double"/>
          <p:cNvSpPr/>
          <p:nvPr/>
        </p:nvSpPr>
        <p:spPr>
          <a:xfrm rot="120000">
            <a:off x="5486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2" name="sticky text Reactors make double"/>
          <p:cNvSpPr txBox="1"/>
          <p:nvPr/>
        </p:nvSpPr>
        <p:spPr>
          <a:xfrm rot="120000">
            <a:off x="640080" y="224028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Reactors make double</a:t>
            </a:r>
            <a:endParaRPr lang="en-US" sz="1400" dirty="0"/>
          </a:p>
        </p:txBody>
      </p:sp>
      <p:sp>
        <p:nvSpPr>
          <p:cNvPr id="13" name="sticky Meltdown on a 7?"/>
          <p:cNvSpPr/>
          <p:nvPr/>
        </p:nvSpPr>
        <p:spPr>
          <a:xfrm rot="-120000">
            <a:off x="26060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4" name="sticky text Meltdown on a 7?"/>
          <p:cNvSpPr txBox="1"/>
          <p:nvPr/>
        </p:nvSpPr>
        <p:spPr>
          <a:xfrm rot="-120000">
            <a:off x="2697480" y="224028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Meltdown on a 7?</a:t>
            </a:r>
            <a:endParaRPr lang="en-US" sz="1400" dirty="0"/>
          </a:p>
        </p:txBody>
      </p:sp>
      <p:sp>
        <p:nvSpPr>
          <p:cNvPr id="15" name="sticky Nuke wipes out a hex for good"/>
          <p:cNvSpPr/>
          <p:nvPr/>
        </p:nvSpPr>
        <p:spPr>
          <a:xfrm rot="-180000">
            <a:off x="46634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6" name="sticky text Nuke wipes out a hex for good"/>
          <p:cNvSpPr txBox="1"/>
          <p:nvPr/>
        </p:nvSpPr>
        <p:spPr>
          <a:xfrm rot="-180000">
            <a:off x="4754880" y="224028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Nuke wipes out a hex for good</a:t>
            </a:r>
            <a:endParaRPr lang="en-US" sz="1400" dirty="0"/>
          </a:p>
        </p:txBody>
      </p:sp>
      <p:sp>
        <p:nvSpPr>
          <p:cNvPr id="17" name="sticky Fallout shelters"/>
          <p:cNvSpPr/>
          <p:nvPr/>
        </p:nvSpPr>
        <p:spPr>
          <a:xfrm rot="60000">
            <a:off x="67208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8" name="sticky text Fallout shelters"/>
          <p:cNvSpPr txBox="1"/>
          <p:nvPr/>
        </p:nvSpPr>
        <p:spPr>
          <a:xfrm rot="60000">
            <a:off x="6812280" y="224028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Fallout shelters</a:t>
            </a:r>
            <a:endParaRPr lang="en-US" sz="1400" dirty="0"/>
          </a:p>
        </p:txBody>
      </p:sp>
      <p:sp>
        <p:nvSpPr>
          <p:cNvPr id="19" name="sticky Seasons change the map"/>
          <p:cNvSpPr/>
          <p:nvPr/>
        </p:nvSpPr>
        <p:spPr>
          <a:xfrm rot="-120000">
            <a:off x="5486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0" name="sticky text Seasons change the map"/>
          <p:cNvSpPr txBox="1"/>
          <p:nvPr/>
        </p:nvSpPr>
        <p:spPr>
          <a:xfrm rot="-120000">
            <a:off x="640080" y="329184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Seasons change the map</a:t>
            </a:r>
            <a:endParaRPr lang="en-US" sz="1400" dirty="0"/>
          </a:p>
        </p:txBody>
      </p:sp>
      <p:sp>
        <p:nvSpPr>
          <p:cNvPr id="21" name="sticky Keep the classic rules"/>
          <p:cNvSpPr/>
          <p:nvPr/>
        </p:nvSpPr>
        <p:spPr>
          <a:xfrm rot="180000">
            <a:off x="26060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2" name="sticky text Keep the classic rules"/>
          <p:cNvSpPr txBox="1"/>
          <p:nvPr/>
        </p:nvSpPr>
        <p:spPr>
          <a:xfrm rot="180000">
            <a:off x="2697480" y="329184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Keep the classic rules</a:t>
            </a:r>
            <a:endParaRPr lang="en-US" sz="1400" dirty="0"/>
          </a:p>
        </p:txBody>
      </p:sp>
      <p:sp>
        <p:nvSpPr>
          <p:cNvPr id="23" name="sticky Uranium from dev cards"/>
          <p:cNvSpPr/>
          <p:nvPr/>
        </p:nvSpPr>
        <p:spPr>
          <a:xfrm rot="-60000">
            <a:off x="46634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4" name="sticky text Uranium from dev cards"/>
          <p:cNvSpPr txBox="1"/>
          <p:nvPr/>
        </p:nvSpPr>
        <p:spPr>
          <a:xfrm rot="-60000">
            <a:off x="4754880" y="329184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Uranium from dev cards</a:t>
            </a:r>
            <a:endParaRPr lang="en-US" sz="1400" dirty="0"/>
          </a:p>
        </p:txBody>
      </p:sp>
      <p:sp>
        <p:nvSpPr>
          <p:cNvPr id="25" name="sticky Shorter game: 8 points"/>
          <p:cNvSpPr/>
          <p:nvPr/>
        </p:nvSpPr>
        <p:spPr>
          <a:xfrm rot="120000">
            <a:off x="67208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6" name="sticky text Shorter game: 8 points"/>
          <p:cNvSpPr txBox="1"/>
          <p:nvPr/>
        </p:nvSpPr>
        <p:spPr>
          <a:xfrm rot="120000">
            <a:off x="6812280" y="329184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Shorter game: 8 points</a:t>
            </a:r>
            <a:endParaRPr lang="en-US" sz="1400" dirty="0"/>
          </a:p>
        </p:txBody>
      </p:sp>
      <p:sp>
        <p:nvSpPr>
          <p:cNvPr id="27" name="brainstorm caption"/>
          <p:cNvSpPr txBox="1"/>
          <p:nvPr/>
        </p:nvSpPr>
        <p:spPr>
          <a:xfrm>
            <a:off x="457200" y="4434840"/>
            <a:ext cx="8229600" cy="365760"/>
          </a:xfrm>
          <a:prstGeom prst="rect">
            <a:avLst/>
          </a:prstGeom>
          <a:noFill/>
          <a:ln/>
        </p:spPr>
        <p:txBody>
          <a:bodyPr wrap="square" lIns="0" tIns="0" rIns="0" bIns="0" rtlCol="0" anchor="ctr"/>
          <a:lstStyle/>
          <a:p>
            <a:pPr indent="0" marL="0">
              <a:buNone/>
            </a:pPr>
            <a:r>
              <a:rPr lang="en-US" sz="1200" i="1" dirty="0">
                <a:solidFill>
                  <a:schemeClr val="accent5"/>
                </a:solidFill>
              </a:rPr>
              <a:t>Yellow: themes. Pink: the twist. Green: how it fits into the rules. Then everyone got three votes.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Picking a theme</a:t>
            </a:r>
            <a:endParaRPr lang="en-US" sz="3200" dirty="0"/>
          </a:p>
        </p:txBody>
      </p:sp>
      <p:graphicFrame>
        <p:nvGraphicFramePr>
          <p:cNvPr id="6" name="decision matrix"/>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1234440"/>
                <a:gridCol w="1325880"/>
                <a:gridCol w="1325880"/>
                <a:gridCol w="1143000"/>
                <a:gridCol w="1097280"/>
              </a:tblGrid>
              <a:tr h="411480">
                <a:tc>
                  <a:txBody>
                    <a:bodyPr/>
                    <a:lstStyle/>
                    <a:p>
                      <a:pPr algn="ctr" indent="0" marL="0">
                        <a:buNone/>
                      </a:pPr>
                      <a:r>
                        <a:rPr lang="en-US" sz="1400" b="1" dirty="0">
                          <a:solidFill>
                            <a:schemeClr val="bg1"/>
                          </a:solidFill>
                        </a:rPr>
                        <a:t>Theme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Fun (30%)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Easy to learn (30%)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Fits the look (20%)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Original (20%)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Score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r>
              <a:tr h="411480">
                <a:tc>
                  <a:txBody>
                    <a:bodyPr/>
                    <a:lstStyle/>
                    <a:p>
                      <a:pPr indent="0" marL="0">
                        <a:buNone/>
                      </a:pPr>
                      <a:r>
                        <a:rPr lang="en-US" sz="1400" dirty="0">
                          <a:solidFill>
                            <a:schemeClr val="tx1"/>
                          </a:solidFill>
                        </a:rPr>
                        <a:t>Medieval kingdom</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2</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b="1" dirty="0">
                          <a:solidFill>
                            <a:schemeClr val="tx1"/>
                          </a:solidFill>
                        </a:rPr>
                        <a:t>3.8</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11480">
                <a:tc>
                  <a:txBody>
                    <a:bodyPr/>
                    <a:lstStyle/>
                    <a:p>
                      <a:pPr indent="0" marL="0">
                        <a:buNone/>
                      </a:pPr>
                      <a:r>
                        <a:rPr lang="en-US" sz="1400" dirty="0">
                          <a:solidFill>
                            <a:schemeClr val="tx1"/>
                          </a:solidFill>
                        </a:rPr>
                        <a:t>Wasteland rebuild</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b="1" dirty="0">
                          <a:solidFill>
                            <a:schemeClr val="tx1"/>
                          </a:solidFill>
                        </a:rPr>
                        <a:t>3.5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11480">
                <a:tc>
                  <a:txBody>
                    <a:bodyPr/>
                    <a:lstStyle/>
                    <a:p>
                      <a:pPr indent="0" marL="0">
                        <a:buNone/>
                      </a:pPr>
                      <a:r>
                        <a:rPr lang="en-US" sz="1400" dirty="0">
                          <a:solidFill>
                            <a:schemeClr val="tx1"/>
                          </a:solidFill>
                        </a:rPr>
                        <a:t>Power grid tycoon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b="1" dirty="0">
                          <a:solidFill>
                            <a:schemeClr val="tx1"/>
                          </a:solidFill>
                        </a:rPr>
                        <a:t>3.2</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11480">
                <a:tc>
                  <a:txBody>
                    <a:bodyPr/>
                    <a:lstStyle/>
                    <a:p>
                      <a:pPr indent="0" marL="0">
                        <a:buNone/>
                      </a:pPr>
                      <a:r>
                        <a:rPr lang="en-US" sz="1400" b="1" dirty="0">
                          <a:solidFill>
                            <a:schemeClr val="tx1"/>
                          </a:solidFill>
                        </a:rPr>
                        <a:t>Atomic Age 1950s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b="1" dirty="0">
                          <a:solidFill>
                            <a:schemeClr val="tx1"/>
                          </a:solidFill>
                        </a:rPr>
                        <a:t>4.7</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r>
            </a:tbl>
          </a:graphicData>
        </a:graphic>
      </p:graphicFrame>
      <p:sp>
        <p:nvSpPr>
          <p:cNvPr id="4" name="matrix caption"/>
          <p:cNvSpPr txBox="1"/>
          <p:nvPr/>
        </p:nvSpPr>
        <p:spPr>
          <a:xfrm>
            <a:off x="457200" y="3520440"/>
            <a:ext cx="8229600" cy="365760"/>
          </a:xfrm>
          <a:prstGeom prst="rect">
            <a:avLst/>
          </a:prstGeom>
          <a:noFill/>
          <a:ln/>
        </p:spPr>
        <p:txBody>
          <a:bodyPr wrap="square" lIns="0" tIns="0" rIns="0" bIns="0" rtlCol="0" anchor="ctr"/>
          <a:lstStyle/>
          <a:p>
            <a:pPr indent="0" marL="0">
              <a:buNone/>
            </a:pPr>
            <a:r>
              <a:rPr lang="en-US" sz="1400" dirty="0">
                <a:solidFill>
                  <a:schemeClr val="tx1"/>
                </a:solidFill>
              </a:rPr>
              <a:t>Scores out of 5, weighted. Atomic Age won on fun and originality, and it gave us uranium.</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Objectives, constraints, functions</a:t>
            </a:r>
            <a:endParaRPr lang="en-US" sz="3200" dirty="0"/>
          </a:p>
        </p:txBody>
      </p:sp>
      <p:sp>
        <p:nvSpPr>
          <p:cNvPr id="3" name="Objectives column"/>
          <p:cNvSpPr/>
          <p:nvPr/>
        </p:nvSpPr>
        <p:spPr>
          <a:xfrm>
            <a:off x="457200" y="1143000"/>
            <a:ext cx="2606040" cy="3383280"/>
          </a:xfrm>
          <a:prstGeom prst="rect">
            <a:avLst/>
          </a:prstGeom>
          <a:solidFill>
            <a:schemeClr val="bg2"/>
          </a:solidFill>
          <a:ln/>
        </p:spPr>
      </p:sp>
      <p:sp>
        <p:nvSpPr>
          <p:cNvPr id="4" name="Objectives heading"/>
          <p:cNvSpPr txBox="1"/>
          <p:nvPr/>
        </p:nvSpPr>
        <p:spPr>
          <a:xfrm>
            <a:off x="640080" y="1280160"/>
            <a:ext cx="2240280" cy="411480"/>
          </a:xfrm>
          <a:prstGeom prst="rect">
            <a:avLst/>
          </a:prstGeom>
          <a:noFill/>
          <a:ln/>
        </p:spPr>
        <p:txBody>
          <a:bodyPr wrap="square" lIns="0" tIns="0" rIns="0" bIns="0" rtlCol="0" anchor="ctr"/>
          <a:lstStyle/>
          <a:p>
            <a:pPr indent="0" marL="0">
              <a:buNone/>
            </a:pPr>
            <a:r>
              <a:rPr lang="en-US" sz="2200" b="1" dirty="0">
                <a:solidFill>
                  <a:schemeClr val="accent1"/>
                </a:solidFill>
              </a:rPr>
              <a:t>Objectives</a:t>
            </a:r>
            <a:endParaRPr lang="en-US" sz="2200" dirty="0"/>
          </a:p>
        </p:txBody>
      </p:sp>
      <p:sp>
        <p:nvSpPr>
          <p:cNvPr id="5" name="Objectives sub"/>
          <p:cNvSpPr txBox="1"/>
          <p:nvPr/>
        </p:nvSpPr>
        <p:spPr>
          <a:xfrm>
            <a:off x="640080" y="16916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What we wanted</a:t>
            </a:r>
            <a:endParaRPr lang="en-US" sz="1200" dirty="0"/>
          </a:p>
        </p:txBody>
      </p:sp>
      <p:sp>
        <p:nvSpPr>
          <p:cNvPr id="6" name="Objectives list"/>
          <p:cNvSpPr txBox="1"/>
          <p:nvPr/>
        </p:nvSpPr>
        <p:spPr>
          <a:xfrm>
            <a:off x="640080" y="21031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Easy if you know Catan</a:t>
            </a:r>
            <a:endParaRPr lang="en-US" sz="1500" dirty="0"/>
          </a:p>
          <a:p>
            <a:pPr marL="342900" indent="-342900">
              <a:spcAft>
                <a:spcPts val="800"/>
              </a:spcAft>
              <a:buSzPct val="100000"/>
              <a:buChar char="•"/>
            </a:pPr>
            <a:r>
              <a:rPr lang="en-US" sz="1500" dirty="0">
                <a:solidFill>
                  <a:schemeClr val="tx1"/>
                </a:solidFill>
              </a:rPr>
              <a:t>Nukes add drama, not chaos</a:t>
            </a:r>
            <a:endParaRPr lang="en-US" sz="1500" dirty="0"/>
          </a:p>
          <a:p>
            <a:pPr marL="342900" indent="-342900">
              <a:spcAft>
                <a:spcPts val="800"/>
              </a:spcAft>
              <a:buSzPct val="100000"/>
              <a:buChar char="•"/>
            </a:pPr>
            <a:r>
              <a:rPr lang="en-US" sz="1500" dirty="0">
                <a:solidFill>
                  <a:schemeClr val="tx1"/>
                </a:solidFill>
              </a:rPr>
              <a:t>Fun to replay</a:t>
            </a:r>
            <a:endParaRPr lang="en-US" sz="1500" dirty="0"/>
          </a:p>
          <a:p>
            <a:pPr marL="342900" indent="-342900">
              <a:spcAft>
                <a:spcPts val="800"/>
              </a:spcAft>
              <a:buSzPct val="100000"/>
              <a:buChar char="•"/>
            </a:pPr>
            <a:r>
              <a:rPr lang="en-US" sz="1500" dirty="0">
                <a:solidFill>
                  <a:schemeClr val="tx1"/>
                </a:solidFill>
              </a:rPr>
              <a:t>Looks like a 1950s war room</a:t>
            </a:r>
            <a:endParaRPr lang="en-US" sz="1500" dirty="0"/>
          </a:p>
        </p:txBody>
      </p:sp>
      <p:sp>
        <p:nvSpPr>
          <p:cNvPr id="7" name="Constraints column"/>
          <p:cNvSpPr/>
          <p:nvPr/>
        </p:nvSpPr>
        <p:spPr>
          <a:xfrm>
            <a:off x="3246120" y="1143000"/>
            <a:ext cx="2606040" cy="3383280"/>
          </a:xfrm>
          <a:prstGeom prst="rect">
            <a:avLst/>
          </a:prstGeom>
          <a:solidFill>
            <a:schemeClr val="bg2"/>
          </a:solidFill>
          <a:ln/>
        </p:spPr>
      </p:sp>
      <p:sp>
        <p:nvSpPr>
          <p:cNvPr id="8" name="Constraints heading"/>
          <p:cNvSpPr txBox="1"/>
          <p:nvPr/>
        </p:nvSpPr>
        <p:spPr>
          <a:xfrm>
            <a:off x="3429000" y="1280160"/>
            <a:ext cx="2240280" cy="411480"/>
          </a:xfrm>
          <a:prstGeom prst="rect">
            <a:avLst/>
          </a:prstGeom>
          <a:noFill/>
          <a:ln/>
        </p:spPr>
        <p:txBody>
          <a:bodyPr wrap="square" lIns="0" tIns="0" rIns="0" bIns="0" rtlCol="0" anchor="ctr"/>
          <a:lstStyle/>
          <a:p>
            <a:pPr indent="0" marL="0">
              <a:buNone/>
            </a:pPr>
            <a:r>
              <a:rPr lang="en-US" sz="2200" b="1" dirty="0">
                <a:solidFill>
                  <a:schemeClr val="accent3"/>
                </a:solidFill>
              </a:rPr>
              <a:t>Constraints</a:t>
            </a:r>
            <a:endParaRPr lang="en-US" sz="2200" dirty="0"/>
          </a:p>
        </p:txBody>
      </p:sp>
      <p:sp>
        <p:nvSpPr>
          <p:cNvPr id="9" name="Constraints sub"/>
          <p:cNvSpPr txBox="1"/>
          <p:nvPr/>
        </p:nvSpPr>
        <p:spPr>
          <a:xfrm>
            <a:off x="3429000" y="16916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What we had to stick to</a:t>
            </a:r>
            <a:endParaRPr lang="en-US" sz="1200" dirty="0"/>
          </a:p>
        </p:txBody>
      </p:sp>
      <p:sp>
        <p:nvSpPr>
          <p:cNvPr id="10" name="Constraints list"/>
          <p:cNvSpPr txBox="1"/>
          <p:nvPr/>
        </p:nvSpPr>
        <p:spPr>
          <a:xfrm>
            <a:off x="3429000" y="21031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Python + pygame only</a:t>
            </a:r>
            <a:endParaRPr lang="en-US" sz="1500" dirty="0"/>
          </a:p>
          <a:p>
            <a:pPr marL="342900" indent="-342900">
              <a:spcAft>
                <a:spcPts val="800"/>
              </a:spcAft>
              <a:buSzPct val="100000"/>
              <a:buChar char="•"/>
            </a:pPr>
            <a:r>
              <a:rPr lang="en-US" sz="1500" dirty="0">
                <a:solidFill>
                  <a:schemeClr val="tx1"/>
                </a:solidFill>
              </a:rPr>
              <a:t>Runs on any laptop</a:t>
            </a:r>
            <a:endParaRPr lang="en-US" sz="1500" dirty="0"/>
          </a:p>
          <a:p>
            <a:pPr marL="342900" indent="-342900">
              <a:spcAft>
                <a:spcPts val="800"/>
              </a:spcAft>
              <a:buSzPct val="100000"/>
              <a:buChar char="•"/>
            </a:pPr>
            <a:r>
              <a:rPr lang="en-US" sz="1500" dirty="0">
                <a:solidFill>
                  <a:schemeClr val="tx1"/>
                </a:solidFill>
              </a:rPr>
              <a:t>2 to 4 players, one screen</a:t>
            </a:r>
            <a:endParaRPr lang="en-US" sz="1500" dirty="0"/>
          </a:p>
          <a:p>
            <a:pPr marL="342900" indent="-342900">
              <a:spcAft>
                <a:spcPts val="800"/>
              </a:spcAft>
              <a:buSzPct val="100000"/>
              <a:buChar char="•"/>
            </a:pPr>
            <a:r>
              <a:rPr lang="en-US" sz="1500" dirty="0">
                <a:solidFill>
                  <a:schemeClr val="tx1"/>
                </a:solidFill>
              </a:rPr>
              <a:t>Built in one day</a:t>
            </a:r>
            <a:endParaRPr lang="en-US" sz="1500" dirty="0"/>
          </a:p>
        </p:txBody>
      </p:sp>
      <p:sp>
        <p:nvSpPr>
          <p:cNvPr id="11" name="Functions column"/>
          <p:cNvSpPr/>
          <p:nvPr/>
        </p:nvSpPr>
        <p:spPr>
          <a:xfrm>
            <a:off x="6035040" y="1143000"/>
            <a:ext cx="2606040" cy="3383280"/>
          </a:xfrm>
          <a:prstGeom prst="rect">
            <a:avLst/>
          </a:prstGeom>
          <a:solidFill>
            <a:schemeClr val="bg2"/>
          </a:solidFill>
          <a:ln/>
        </p:spPr>
      </p:sp>
      <p:sp>
        <p:nvSpPr>
          <p:cNvPr id="12" name="Functions heading"/>
          <p:cNvSpPr txBox="1"/>
          <p:nvPr/>
        </p:nvSpPr>
        <p:spPr>
          <a:xfrm>
            <a:off x="6217920" y="1280160"/>
            <a:ext cx="2240280" cy="411480"/>
          </a:xfrm>
          <a:prstGeom prst="rect">
            <a:avLst/>
          </a:prstGeom>
          <a:noFill/>
          <a:ln/>
        </p:spPr>
        <p:txBody>
          <a:bodyPr wrap="square" lIns="0" tIns="0" rIns="0" bIns="0" rtlCol="0" anchor="ctr"/>
          <a:lstStyle/>
          <a:p>
            <a:pPr indent="0" marL="0">
              <a:buNone/>
            </a:pPr>
            <a:r>
              <a:rPr lang="en-US" sz="2200" b="1" dirty="0">
                <a:solidFill>
                  <a:schemeClr val="accent4"/>
                </a:solidFill>
              </a:rPr>
              <a:t>Functions</a:t>
            </a:r>
            <a:endParaRPr lang="en-US" sz="2200" dirty="0"/>
          </a:p>
        </p:txBody>
      </p:sp>
      <p:sp>
        <p:nvSpPr>
          <p:cNvPr id="13" name="Functions sub"/>
          <p:cNvSpPr txBox="1"/>
          <p:nvPr/>
        </p:nvSpPr>
        <p:spPr>
          <a:xfrm>
            <a:off x="6217920" y="16916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What it has to do</a:t>
            </a:r>
            <a:endParaRPr lang="en-US" sz="1200" dirty="0"/>
          </a:p>
        </p:txBody>
      </p:sp>
      <p:sp>
        <p:nvSpPr>
          <p:cNvPr id="14" name="Functions list"/>
          <p:cNvSpPr txBox="1"/>
          <p:nvPr/>
        </p:nvSpPr>
        <p:spPr>
          <a:xfrm>
            <a:off x="6217920" y="21031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New random board each game</a:t>
            </a:r>
            <a:endParaRPr lang="en-US" sz="1500" dirty="0"/>
          </a:p>
          <a:p>
            <a:pPr marL="342900" indent="-342900">
              <a:spcAft>
                <a:spcPts val="800"/>
              </a:spcAft>
              <a:buSzPct val="100000"/>
              <a:buChar char="•"/>
            </a:pPr>
            <a:r>
              <a:rPr lang="en-US" sz="1500" dirty="0">
                <a:solidFill>
                  <a:schemeClr val="tx1"/>
                </a:solidFill>
              </a:rPr>
              <a:t>Dice, robber and trading</a:t>
            </a:r>
            <a:endParaRPr lang="en-US" sz="1500" dirty="0"/>
          </a:p>
          <a:p>
            <a:pPr marL="342900" indent="-342900">
              <a:spcAft>
                <a:spcPts val="800"/>
              </a:spcAft>
              <a:buSzPct val="100000"/>
              <a:buChar char="•"/>
            </a:pPr>
            <a:r>
              <a:rPr lang="en-US" sz="1500" dirty="0">
                <a:solidFill>
                  <a:schemeClr val="tx1"/>
                </a:solidFill>
              </a:rPr>
              <a:t>Dev cards and nukes</a:t>
            </a:r>
            <a:endParaRPr lang="en-US" sz="1500" dirty="0"/>
          </a:p>
          <a:p>
            <a:pPr marL="342900" indent="-342900">
              <a:spcAft>
                <a:spcPts val="800"/>
              </a:spcAft>
              <a:buSzPct val="100000"/>
              <a:buChar char="•"/>
            </a:pPr>
            <a:r>
              <a:rPr lang="en-US" sz="1500" dirty="0">
                <a:solidFill>
                  <a:schemeClr val="tx1"/>
                </a:solidFill>
              </a:rPr>
              <a:t>Explain why a move is not allowed</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we changed from Catan</a:t>
            </a:r>
            <a:endParaRPr lang="en-US" sz="3200" dirty="0"/>
          </a:p>
        </p:txBody>
      </p:sp>
      <p:graphicFrame>
        <p:nvGraphicFramePr>
          <p:cNvPr id="8" name="catan vs cold war"/>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377440"/>
                <a:gridCol w="3200400"/>
                <a:gridCol w="2651760"/>
              </a:tblGrid>
              <a:tr h="429768">
                <a:tc>
                  <a:txBody>
                    <a:bodyPr/>
                    <a:lstStyle/>
                    <a:p>
                      <a:pPr algn="ctr" indent="0" marL="0">
                        <a:buNone/>
                      </a:pPr>
                      <a:r>
                        <a:rPr lang="en-US" sz="1400" b="1" dirty="0">
                          <a:solidFill>
                            <a:schemeClr val="bg1"/>
                          </a:solidFill>
                        </a:rPr>
                        <a:t>Catan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Cold War Edition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Why</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r>
              <a:tr h="429768">
                <a:tc>
                  <a:txBody>
                    <a:bodyPr/>
                    <a:lstStyle/>
                    <a:p>
                      <a:pPr indent="0" marL="0">
                        <a:buNone/>
                      </a:pPr>
                      <a:r>
                        <a:rPr lang="en-US" sz="1400" dirty="0">
                          <a:solidFill>
                            <a:schemeClr val="tx1"/>
                          </a:solidFill>
                        </a:rPr>
                        <a:t>5 resources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5 resources + Uranium</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The new twist</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Development cards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Uranium Shipment card: +2 uranium</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Uranium stays rare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Knight, Monopoly, etc.</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Secret Agent, Embargo, Marshall Plan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Fits the theme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City</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Hotel: 2 wheat + 3 ore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Same rule, new look</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Nothing like it</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Nuke: 3 uranium + 1 ore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Wipes out a hex for good</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10 points to win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10 points to win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Kept it classic</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Version 1 to version 2</a:t>
            </a:r>
            <a:endParaRPr lang="en-US" sz="3200" dirty="0"/>
          </a:p>
        </p:txBody>
      </p:sp>
      <p:sp>
        <p:nvSpPr>
          <p:cNvPr id="3" name="v1 heading"/>
          <p:cNvSpPr txBox="1"/>
          <p:nvPr/>
        </p:nvSpPr>
        <p:spPr>
          <a:xfrm>
            <a:off x="457200" y="1097280"/>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Morning: version 1</a:t>
            </a:r>
            <a:endParaRPr lang="en-US" sz="1800" dirty="0"/>
          </a:p>
        </p:txBody>
      </p:sp>
      <p:sp>
        <p:nvSpPr>
          <p:cNvPr id="4" name="v1 dice code"/>
          <p:cNvSpPr txBox="1"/>
          <p:nvPr/>
        </p:nvSpPr>
        <p:spPr>
          <a:xfrm>
            <a:off x="457200" y="1554480"/>
            <a:ext cx="3840480" cy="1143000"/>
          </a:xfrm>
          <a:prstGeom prst="rect">
            <a:avLst/>
          </a:prstGeom>
          <a:solidFill>
            <a:srgbClr val="22283A"/>
          </a:solidFill>
          <a:ln/>
        </p:spPr>
        <p:txBody>
          <a:bodyPr wrap="square" lIns="101600" tIns="101600" rIns="101600" bIns="101600" rtlCol="0" anchor="t"/>
          <a:lstStyle/>
          <a:p>
            <a:pPr indent="0" marL="0">
              <a:buNone/>
            </a:pPr>
            <a:r>
              <a:rPr lang="en-US" sz="1200" dirty="0">
                <a:solidFill>
                  <a:srgbClr val="E8ECF6"/>
                </a:solidFill>
                <a:latin typeface="Courier New" pitchFamily="34" charset="0"/>
                <a:ea typeface="Courier New" pitchFamily="34" charset="-122"/>
                <a:cs typeface="Courier New" pitchFamily="34" charset="-120"/>
              </a:rPr>
              <a:t>def roll_two_die():</a:t>
            </a:r>
            <a:endParaRPr lang="en-US" sz="1200" dirty="0"/>
          </a:p>
          <a:p>
            <a:pPr indent="0" marL="0">
              <a:buNone/>
            </a:pPr>
            <a:r>
              <a:rPr lang="en-US" sz="1200" dirty="0">
                <a:solidFill>
                  <a:srgbClr val="E8ECF6"/>
                </a:solidFill>
                <a:latin typeface="Courier New" pitchFamily="34" charset="0"/>
                <a:ea typeface="Courier New" pitchFamily="34" charset="-122"/>
                <a:cs typeface="Courier New" pitchFamily="34" charset="-120"/>
              </a:rPr>
              <a:t>    dice_1 = random.randint(1, 6)</a:t>
            </a:r>
            <a:endParaRPr lang="en-US" sz="1200" dirty="0"/>
          </a:p>
          <a:p>
            <a:pPr indent="0" marL="0">
              <a:buNone/>
            </a:pPr>
            <a:r>
              <a:rPr lang="en-US" sz="1200" dirty="0">
                <a:solidFill>
                  <a:srgbClr val="E8ECF6"/>
                </a:solidFill>
                <a:latin typeface="Courier New" pitchFamily="34" charset="0"/>
                <a:ea typeface="Courier New" pitchFamily="34" charset="-122"/>
                <a:cs typeface="Courier New" pitchFamily="34" charset="-120"/>
              </a:rPr>
              <a:t>    dice_2 = random.randint(1, 6)</a:t>
            </a:r>
            <a:endParaRPr lang="en-US" sz="1200" dirty="0"/>
          </a:p>
          <a:p>
            <a:pPr indent="0" marL="0">
              <a:buNone/>
            </a:pPr>
            <a:r>
              <a:rPr lang="en-US" sz="1200" dirty="0">
                <a:solidFill>
                  <a:srgbClr val="E8ECF6"/>
                </a:solidFill>
                <a:latin typeface="Courier New" pitchFamily="34" charset="0"/>
                <a:ea typeface="Courier New" pitchFamily="34" charset="-122"/>
                <a:cs typeface="Courier New" pitchFamily="34" charset="-120"/>
              </a:rPr>
              <a:t>    return dice_1 + dice_2</a:t>
            </a:r>
            <a:endParaRPr lang="en-US" sz="1200" dirty="0"/>
          </a:p>
        </p:txBody>
      </p:sp>
      <p:sp>
        <p:nvSpPr>
          <p:cNvPr id="5" name="v1 list"/>
          <p:cNvSpPr txBox="1"/>
          <p:nvPr/>
        </p:nvSpPr>
        <p:spPr>
          <a:xfrm>
            <a:off x="457200" y="2834640"/>
            <a:ext cx="384048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Board as a grid of dots and edges</a:t>
            </a:r>
            <a:endParaRPr lang="en-US" sz="1400" dirty="0"/>
          </a:p>
          <a:p>
            <a:pPr marL="342900" indent="-342900">
              <a:spcAft>
                <a:spcPts val="800"/>
              </a:spcAft>
              <a:buSzPct val="100000"/>
              <a:buChar char="•"/>
            </a:pPr>
            <a:r>
              <a:rPr lang="en-US" sz="1400" dirty="0">
                <a:solidFill>
                  <a:schemeClr val="tx1"/>
                </a:solidFill>
              </a:rPr>
              <a:t>SPACE to roll, E to end your turn</a:t>
            </a:r>
            <a:endParaRPr lang="en-US" sz="1400" dirty="0"/>
          </a:p>
          <a:p>
            <a:pPr marL="342900" indent="-342900">
              <a:spcAft>
                <a:spcPts val="800"/>
              </a:spcAft>
              <a:buSzPct val="100000"/>
              <a:buChar char="•"/>
            </a:pPr>
            <a:r>
              <a:rPr lang="en-US" sz="1400" dirty="0">
                <a:solidFill>
                  <a:schemeClr val="tx1"/>
                </a:solidFill>
              </a:rPr>
              <a:t>Dice auto-roll after 10 seconds</a:t>
            </a:r>
            <a:endParaRPr lang="en-US" sz="1400" dirty="0"/>
          </a:p>
          <a:p>
            <a:pPr marL="342900" indent="-342900">
              <a:spcAft>
                <a:spcPts val="800"/>
              </a:spcAft>
              <a:buSzPct val="100000"/>
              <a:buChar char="•"/>
            </a:pPr>
            <a:r>
              <a:rPr lang="en-US" sz="1400" dirty="0">
                <a:solidFill>
                  <a:schemeClr val="tx1"/>
                </a:solidFill>
              </a:rPr>
              <a:t>Everything printed in the terminal</a:t>
            </a:r>
            <a:endParaRPr lang="en-US" sz="1400" dirty="0"/>
          </a:p>
        </p:txBody>
      </p:sp>
      <p:sp>
        <p:nvSpPr>
          <p:cNvPr id="6" name="v2 heading"/>
          <p:cNvSpPr txBox="1"/>
          <p:nvPr/>
        </p:nvSpPr>
        <p:spPr>
          <a:xfrm>
            <a:off x="4754880" y="109728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Afternoon: version 2</a:t>
            </a:r>
            <a:endParaRPr lang="en-US" sz="1800" dirty="0"/>
          </a:p>
        </p:txBody>
      </p:sp>
      <p:pic>
        <p:nvPicPr>
          <p:cNvPr id="7" name="Version 2 game screen" descr="Version 2 game screen">    </p:cNvPr>
          <p:cNvPicPr>
            <a:picLocks noChangeAspect="1"/>
          </p:cNvPicPr>
          <p:nvPr/>
        </p:nvPicPr>
        <p:blipFill>
          <a:blip r:embed="rId1"/>
          <a:stretch>
            <a:fillRect/>
          </a:stretch>
        </p:blipFill>
        <p:spPr>
          <a:xfrm>
            <a:off x="4754880" y="1554480"/>
            <a:ext cx="3931920" cy="2621280"/>
          </a:xfrm>
          <a:prstGeom prst="rect">
            <a:avLst/>
          </a:prstGeom>
        </p:spPr>
      </p:pic>
      <p:sp>
        <p:nvSpPr>
          <p:cNvPr id="8" name="Version 2 game screen frame"/>
          <p:cNvSpPr/>
          <p:nvPr/>
        </p:nvSpPr>
        <p:spPr>
          <a:xfrm>
            <a:off x="4754880" y="1554480"/>
            <a:ext cx="3931920" cy="2621280"/>
          </a:xfrm>
          <a:prstGeom prst="rect">
            <a:avLst/>
          </a:prstGeom>
          <a:ln w="12700">
            <a:solidFill>
              <a:schemeClr val="tx2"/>
            </a:solidFill>
            <a:prstDash val="solid"/>
          </a:ln>
        </p:spPr>
      </p:sp>
      <p:sp>
        <p:nvSpPr>
          <p:cNvPr id="9" name="v2 caption"/>
          <p:cNvSpPr txBox="1"/>
          <p:nvPr/>
        </p:nvSpPr>
        <p:spPr>
          <a:xfrm>
            <a:off x="4754880" y="4251960"/>
            <a:ext cx="3931920" cy="365760"/>
          </a:xfrm>
          <a:prstGeom prst="rect">
            <a:avLst/>
          </a:prstGeom>
          <a:noFill/>
          <a:ln/>
        </p:spPr>
        <p:txBody>
          <a:bodyPr wrap="square" lIns="0" tIns="0" rIns="0" bIns="0" rtlCol="0" anchor="ctr"/>
          <a:lstStyle/>
          <a:p>
            <a:pPr indent="0" marL="0">
              <a:buNone/>
            </a:pPr>
            <a:r>
              <a:rPr lang="en-US" sz="1400" dirty="0">
                <a:solidFill>
                  <a:schemeClr val="tx1"/>
                </a:solidFill>
              </a:rPr>
              <a:t>Clickable board, side panel, dev cards and nukes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How it's built</a:t>
            </a:r>
            <a:endParaRPr lang="en-US" sz="3200" dirty="0"/>
          </a:p>
        </p:txBody>
      </p:sp>
      <p:sp>
        <p:nvSpPr>
          <p:cNvPr id="3" name="main box"/>
          <p:cNvSpPr/>
          <p:nvPr/>
        </p:nvSpPr>
        <p:spPr>
          <a:xfrm>
            <a:off x="457200" y="1188720"/>
            <a:ext cx="2286000" cy="1005840"/>
          </a:xfrm>
          <a:prstGeom prst="rect">
            <a:avLst/>
          </a:prstGeom>
          <a:solidFill>
            <a:schemeClr val="bg2"/>
          </a:solidFill>
          <a:ln w="12700">
            <a:solidFill>
              <a:schemeClr val="tx2"/>
            </a:solidFill>
            <a:prstDash val="solid"/>
          </a:ln>
        </p:spPr>
      </p:sp>
      <p:sp>
        <p:nvSpPr>
          <p:cNvPr id="4" name="main text"/>
          <p:cNvSpPr txBox="1"/>
          <p:nvPr/>
        </p:nvSpPr>
        <p:spPr>
          <a:xfrm>
            <a:off x="566928" y="1188720"/>
            <a:ext cx="2066544" cy="1005840"/>
          </a:xfrm>
          <a:prstGeom prst="rect">
            <a:avLst/>
          </a:prstGeom>
          <a:noFill/>
          <a:ln/>
        </p:spPr>
        <p:txBody>
          <a:bodyPr wrap="square" lIns="0" tIns="0" rIns="0" bIns="0" rtlCol="0" anchor="ctr"/>
          <a:lstStyle/>
          <a:p>
            <a:pPr indent="0" marL="0">
              <a:buNone/>
            </a:pPr>
            <a:r>
              <a:rPr lang="en-US" sz="1500" b="1" dirty="0">
                <a:solidFill>
                  <a:schemeClr val="tx2"/>
                </a:solidFill>
              </a:rPr>
              <a:t>main.py</a:t>
            </a:r>
            <a:endParaRPr lang="en-US" sz="1500" dirty="0"/>
          </a:p>
          <a:p>
            <a:pPr indent="0" marL="0">
              <a:buNone/>
            </a:pPr>
            <a:r>
              <a:rPr lang="en-US" sz="1200" dirty="0">
                <a:solidFill>
                  <a:schemeClr val="tx1"/>
                </a:solidFill>
              </a:rPr>
              <a:t>Opens the window, reads clicks and keys</a:t>
            </a:r>
            <a:endParaRPr lang="en-US" sz="1500" dirty="0"/>
          </a:p>
        </p:txBody>
      </p:sp>
      <p:sp>
        <p:nvSpPr>
          <p:cNvPr id="5" name="rules box"/>
          <p:cNvSpPr/>
          <p:nvPr/>
        </p:nvSpPr>
        <p:spPr>
          <a:xfrm>
            <a:off x="3291840" y="1188720"/>
            <a:ext cx="2286000" cy="1005840"/>
          </a:xfrm>
          <a:prstGeom prst="rect">
            <a:avLst/>
          </a:prstGeom>
          <a:solidFill>
            <a:srgbClr val="FFF3C4"/>
          </a:solidFill>
          <a:ln w="12700">
            <a:solidFill>
              <a:schemeClr val="tx2"/>
            </a:solidFill>
            <a:prstDash val="solid"/>
          </a:ln>
        </p:spPr>
      </p:sp>
      <p:sp>
        <p:nvSpPr>
          <p:cNvPr id="6" name="rules text"/>
          <p:cNvSpPr txBox="1"/>
          <p:nvPr/>
        </p:nvSpPr>
        <p:spPr>
          <a:xfrm>
            <a:off x="3401568" y="1188720"/>
            <a:ext cx="2066544" cy="1005840"/>
          </a:xfrm>
          <a:prstGeom prst="rect">
            <a:avLst/>
          </a:prstGeom>
          <a:noFill/>
          <a:ln/>
        </p:spPr>
        <p:txBody>
          <a:bodyPr wrap="square" lIns="0" tIns="0" rIns="0" bIns="0" rtlCol="0" anchor="ctr"/>
          <a:lstStyle/>
          <a:p>
            <a:pPr indent="0" marL="0">
              <a:buNone/>
            </a:pPr>
            <a:r>
              <a:rPr lang="en-US" sz="1500" b="1" dirty="0">
                <a:solidFill>
                  <a:schemeClr val="tx2"/>
                </a:solidFill>
              </a:rPr>
              <a:t>backend.py</a:t>
            </a:r>
            <a:endParaRPr lang="en-US" sz="1500" dirty="0"/>
          </a:p>
          <a:p>
            <a:pPr indent="0" marL="0">
              <a:buNone/>
            </a:pPr>
            <a:r>
              <a:rPr lang="en-US" sz="1200" dirty="0">
                <a:solidFill>
                  <a:schemeClr val="tx1"/>
                </a:solidFill>
              </a:rPr>
              <a:t>Every rule of the game. No graphics</a:t>
            </a:r>
            <a:endParaRPr lang="en-US" sz="1500" dirty="0"/>
          </a:p>
        </p:txBody>
      </p:sp>
      <p:sp>
        <p:nvSpPr>
          <p:cNvPr id="7" name="tests box"/>
          <p:cNvSpPr/>
          <p:nvPr/>
        </p:nvSpPr>
        <p:spPr>
          <a:xfrm>
            <a:off x="3291840" y="2697480"/>
            <a:ext cx="2286000" cy="914400"/>
          </a:xfrm>
          <a:prstGeom prst="rect">
            <a:avLst/>
          </a:prstGeom>
          <a:solidFill>
            <a:srgbClr val="DDF0D6"/>
          </a:solidFill>
          <a:ln w="12700">
            <a:solidFill>
              <a:schemeClr val="tx2"/>
            </a:solidFill>
            <a:prstDash val="solid"/>
          </a:ln>
        </p:spPr>
      </p:sp>
      <p:sp>
        <p:nvSpPr>
          <p:cNvPr id="8" name="tests text"/>
          <p:cNvSpPr txBox="1"/>
          <p:nvPr/>
        </p:nvSpPr>
        <p:spPr>
          <a:xfrm>
            <a:off x="3401568" y="2697480"/>
            <a:ext cx="2066544" cy="914400"/>
          </a:xfrm>
          <a:prstGeom prst="rect">
            <a:avLst/>
          </a:prstGeom>
          <a:noFill/>
          <a:ln/>
        </p:spPr>
        <p:txBody>
          <a:bodyPr wrap="square" lIns="0" tIns="0" rIns="0" bIns="0" rtlCol="0" anchor="ctr"/>
          <a:lstStyle/>
          <a:p>
            <a:pPr indent="0" marL="0">
              <a:buNone/>
            </a:pPr>
            <a:r>
              <a:rPr lang="en-US" sz="1500" b="1" dirty="0">
                <a:solidFill>
                  <a:schemeClr val="tx2"/>
                </a:solidFill>
              </a:rPr>
              <a:t>test_backend.py</a:t>
            </a:r>
            <a:endParaRPr lang="en-US" sz="1500" dirty="0"/>
          </a:p>
          <a:p>
            <a:pPr indent="0" marL="0">
              <a:buNone/>
            </a:pPr>
            <a:r>
              <a:rPr lang="en-US" sz="1200" dirty="0">
                <a:solidFill>
                  <a:schemeClr val="tx1"/>
                </a:solidFill>
              </a:rPr>
              <a:t>30 tests for the rules</a:t>
            </a:r>
            <a:endParaRPr lang="en-US" sz="1500" dirty="0"/>
          </a:p>
        </p:txBody>
      </p:sp>
      <p:sp>
        <p:nvSpPr>
          <p:cNvPr id="9" name="drawing box"/>
          <p:cNvSpPr/>
          <p:nvPr/>
        </p:nvSpPr>
        <p:spPr>
          <a:xfrm>
            <a:off x="6126480" y="1188720"/>
            <a:ext cx="2560320" cy="1005840"/>
          </a:xfrm>
          <a:prstGeom prst="rect">
            <a:avLst/>
          </a:prstGeom>
          <a:solidFill>
            <a:schemeClr val="bg2"/>
          </a:solidFill>
          <a:ln w="12700">
            <a:solidFill>
              <a:schemeClr val="tx2"/>
            </a:solidFill>
            <a:prstDash val="solid"/>
          </a:ln>
        </p:spPr>
      </p:sp>
      <p:sp>
        <p:nvSpPr>
          <p:cNvPr id="10" name="drawing text"/>
          <p:cNvSpPr txBox="1"/>
          <p:nvPr/>
        </p:nvSpPr>
        <p:spPr>
          <a:xfrm>
            <a:off x="6236208" y="1188720"/>
            <a:ext cx="2340864" cy="1005840"/>
          </a:xfrm>
          <a:prstGeom prst="rect">
            <a:avLst/>
          </a:prstGeom>
          <a:noFill/>
          <a:ln/>
        </p:spPr>
        <p:txBody>
          <a:bodyPr wrap="square" lIns="0" tIns="0" rIns="0" bIns="0" rtlCol="0" anchor="ctr"/>
          <a:lstStyle/>
          <a:p>
            <a:pPr indent="0" marL="0">
              <a:buNone/>
            </a:pPr>
            <a:r>
              <a:rPr lang="en-US" sz="1500" b="1" dirty="0">
                <a:solidFill>
                  <a:schemeClr val="tx2"/>
                </a:solidFill>
              </a:rPr>
              <a:t>board_view.py + side_panel.py</a:t>
            </a:r>
            <a:endParaRPr lang="en-US" sz="1500" dirty="0"/>
          </a:p>
          <a:p>
            <a:pPr indent="0" marL="0">
              <a:buNone/>
            </a:pPr>
            <a:r>
              <a:rPr lang="en-US" sz="1200" dirty="0">
                <a:solidFill>
                  <a:schemeClr val="tx1"/>
                </a:solidFill>
              </a:rPr>
              <a:t>Draw the board, hand and buttons</a:t>
            </a:r>
            <a:endParaRPr lang="en-US" sz="1500" dirty="0"/>
          </a:p>
        </p:txBody>
      </p:sp>
      <p:sp>
        <p:nvSpPr>
          <p:cNvPr id="11" name="layout box"/>
          <p:cNvSpPr/>
          <p:nvPr/>
        </p:nvSpPr>
        <p:spPr>
          <a:xfrm>
            <a:off x="6126480" y="2697480"/>
            <a:ext cx="2560320" cy="914400"/>
          </a:xfrm>
          <a:prstGeom prst="rect">
            <a:avLst/>
          </a:prstGeom>
          <a:solidFill>
            <a:schemeClr val="bg2"/>
          </a:solidFill>
          <a:ln w="12700">
            <a:solidFill>
              <a:schemeClr val="tx2"/>
            </a:solidFill>
            <a:prstDash val="solid"/>
          </a:ln>
        </p:spPr>
      </p:sp>
      <p:sp>
        <p:nvSpPr>
          <p:cNvPr id="12" name="layout text"/>
          <p:cNvSpPr txBox="1"/>
          <p:nvPr/>
        </p:nvSpPr>
        <p:spPr>
          <a:xfrm>
            <a:off x="6236208" y="2697480"/>
            <a:ext cx="2340864" cy="914400"/>
          </a:xfrm>
          <a:prstGeom prst="rect">
            <a:avLst/>
          </a:prstGeom>
          <a:noFill/>
          <a:ln/>
        </p:spPr>
        <p:txBody>
          <a:bodyPr wrap="square" lIns="0" tIns="0" rIns="0" bIns="0" rtlCol="0" anchor="ctr"/>
          <a:lstStyle/>
          <a:p>
            <a:pPr indent="0" marL="0">
              <a:buNone/>
            </a:pPr>
            <a:r>
              <a:rPr lang="en-US" sz="1500" b="1" dirty="0">
                <a:solidFill>
                  <a:schemeClr val="tx2"/>
                </a:solidFill>
              </a:rPr>
              <a:t>board_layout.py</a:t>
            </a:r>
            <a:endParaRPr lang="en-US" sz="1500" dirty="0"/>
          </a:p>
          <a:p>
            <a:pPr indent="0" marL="0">
              <a:buNone/>
            </a:pPr>
            <a:r>
              <a:rPr lang="en-US" sz="1200" dirty="0">
                <a:solidFill>
                  <a:schemeClr val="tx1"/>
                </a:solidFill>
              </a:rPr>
              <a:t>Where every hex, corner and road goes</a:t>
            </a:r>
            <a:endParaRPr lang="en-US" sz="1500" dirty="0"/>
          </a:p>
        </p:txBody>
      </p:sp>
      <p:sp>
        <p:nvSpPr>
          <p:cNvPr id="13" name="main to rules"/>
          <p:cNvSpPr/>
          <p:nvPr/>
        </p:nvSpPr>
        <p:spPr>
          <a:xfrm>
            <a:off x="2743200" y="1691640"/>
            <a:ext cx="548640" cy="0"/>
          </a:xfrm>
          <a:prstGeom prst="line">
            <a:avLst/>
          </a:prstGeom>
          <a:noFill/>
          <a:ln w="19050">
            <a:solidFill>
              <a:schemeClr val="tx2"/>
            </a:solidFill>
            <a:prstDash val="solid"/>
            <a:headEnd type="triangle"/>
            <a:tailEnd type="triangle"/>
          </a:ln>
        </p:spPr>
      </p:sp>
      <p:sp>
        <p:nvSpPr>
          <p:cNvPr id="14" name="rules to drawing"/>
          <p:cNvSpPr/>
          <p:nvPr/>
        </p:nvSpPr>
        <p:spPr>
          <a:xfrm>
            <a:off x="5577840" y="1691640"/>
            <a:ext cx="548640" cy="0"/>
          </a:xfrm>
          <a:prstGeom prst="line">
            <a:avLst/>
          </a:prstGeom>
          <a:noFill/>
          <a:ln w="19050">
            <a:solidFill>
              <a:schemeClr val="tx2"/>
            </a:solidFill>
            <a:prstDash val="solid"/>
            <a:headEnd type="triangle"/>
            <a:tailEnd type="triangle"/>
          </a:ln>
        </p:spPr>
      </p:sp>
      <p:sp>
        <p:nvSpPr>
          <p:cNvPr id="15" name="rules to tests"/>
          <p:cNvSpPr/>
          <p:nvPr/>
        </p:nvSpPr>
        <p:spPr>
          <a:xfrm>
            <a:off x="4434840" y="2194560"/>
            <a:ext cx="0" cy="502920"/>
          </a:xfrm>
          <a:prstGeom prst="line">
            <a:avLst/>
          </a:prstGeom>
          <a:noFill/>
          <a:ln w="19050">
            <a:solidFill>
              <a:schemeClr val="tx2"/>
            </a:solidFill>
            <a:prstDash val="solid"/>
            <a:headEnd type="triangle"/>
            <a:tailEnd type="triangle"/>
          </a:ln>
        </p:spPr>
      </p:sp>
      <p:sp>
        <p:nvSpPr>
          <p:cNvPr id="16" name="drawing to layout"/>
          <p:cNvSpPr/>
          <p:nvPr/>
        </p:nvSpPr>
        <p:spPr>
          <a:xfrm>
            <a:off x="7406640" y="2194560"/>
            <a:ext cx="0" cy="502920"/>
          </a:xfrm>
          <a:prstGeom prst="line">
            <a:avLst/>
          </a:prstGeom>
          <a:noFill/>
          <a:ln w="19050">
            <a:solidFill>
              <a:schemeClr val="tx2"/>
            </a:solidFill>
            <a:prstDash val="solid"/>
            <a:headEnd type="triangle"/>
            <a:tailEnd type="triangle"/>
          </a:ln>
        </p:spPr>
      </p:sp>
      <p:sp>
        <p:nvSpPr>
          <p:cNvPr id="17" name="rule error line"/>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500" dirty="0">
                <a:solidFill>
                  <a:schemeClr val="tx1"/>
                </a:solidFill>
              </a:rPr>
              <a:t>If a move breaks a rule, backend.py raises a RuleError with a readable message, and the game shows it on screen.</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Testing, and the nuke that nobody built</a:t>
            </a:r>
            <a:endParaRPr lang="en-US" sz="3200" dirty="0"/>
          </a:p>
        </p:txBody>
      </p:sp>
      <p:sp>
        <p:nvSpPr>
          <p:cNvPr id="3" name="stat 30"/>
          <p:cNvSpPr txBox="1"/>
          <p:nvPr/>
        </p:nvSpPr>
        <p:spPr>
          <a:xfrm>
            <a:off x="457200" y="1188720"/>
            <a:ext cx="2606040" cy="868680"/>
          </a:xfrm>
          <a:prstGeom prst="rect">
            <a:avLst/>
          </a:prstGeom>
          <a:noFill/>
          <a:ln/>
        </p:spPr>
        <p:txBody>
          <a:bodyPr wrap="square" lIns="0" tIns="0" rIns="0" bIns="0" rtlCol="0" anchor="ctr"/>
          <a:lstStyle/>
          <a:p>
            <a:pPr indent="0" marL="0">
              <a:buNone/>
            </a:pPr>
            <a:r>
              <a:rPr lang="en-US" sz="6000" b="1" dirty="0">
                <a:solidFill>
                  <a:schemeClr val="accent1"/>
                </a:solidFill>
              </a:rPr>
              <a:t>30</a:t>
            </a:r>
            <a:endParaRPr lang="en-US" sz="6000" dirty="0"/>
          </a:p>
        </p:txBody>
      </p:sp>
      <p:sp>
        <p:nvSpPr>
          <p:cNvPr id="4" name="stat label 30"/>
          <p:cNvSpPr txBox="1"/>
          <p:nvPr/>
        </p:nvSpPr>
        <p:spPr>
          <a:xfrm>
            <a:off x="457200" y="2057400"/>
            <a:ext cx="2377440" cy="548640"/>
          </a:xfrm>
          <a:prstGeom prst="rect">
            <a:avLst/>
          </a:prstGeom>
          <a:noFill/>
          <a:ln/>
        </p:spPr>
        <p:txBody>
          <a:bodyPr wrap="square" lIns="0" tIns="0" rIns="0" bIns="0" rtlCol="0" anchor="t"/>
          <a:lstStyle/>
          <a:p>
            <a:pPr indent="0" marL="0">
              <a:buNone/>
            </a:pPr>
            <a:r>
              <a:rPr lang="en-US" sz="1400" dirty="0">
                <a:solidFill>
                  <a:schemeClr val="tx1"/>
                </a:solidFill>
              </a:rPr>
              <a:t>automated tests on the rules, all passing</a:t>
            </a:r>
            <a:endParaRPr lang="en-US" sz="1400" dirty="0"/>
          </a:p>
        </p:txBody>
      </p:sp>
      <p:sp>
        <p:nvSpPr>
          <p:cNvPr id="5" name="stat 859"/>
          <p:cNvSpPr txBox="1"/>
          <p:nvPr/>
        </p:nvSpPr>
        <p:spPr>
          <a:xfrm>
            <a:off x="3246120" y="1188720"/>
            <a:ext cx="2606040" cy="868680"/>
          </a:xfrm>
          <a:prstGeom prst="rect">
            <a:avLst/>
          </a:prstGeom>
          <a:noFill/>
          <a:ln/>
        </p:spPr>
        <p:txBody>
          <a:bodyPr wrap="square" lIns="0" tIns="0" rIns="0" bIns="0" rtlCol="0" anchor="ctr"/>
          <a:lstStyle/>
          <a:p>
            <a:pPr indent="0" marL="0">
              <a:buNone/>
            </a:pPr>
            <a:r>
              <a:rPr lang="en-US" sz="6000" b="1" dirty="0">
                <a:solidFill>
                  <a:schemeClr val="accent1"/>
                </a:solidFill>
              </a:rPr>
              <a:t>859</a:t>
            </a:r>
            <a:endParaRPr lang="en-US" sz="6000" dirty="0"/>
          </a:p>
        </p:txBody>
      </p:sp>
      <p:sp>
        <p:nvSpPr>
          <p:cNvPr id="6" name="stat label 859"/>
          <p:cNvSpPr txBox="1"/>
          <p:nvPr/>
        </p:nvSpPr>
        <p:spPr>
          <a:xfrm>
            <a:off x="3246120" y="2057400"/>
            <a:ext cx="2377440" cy="548640"/>
          </a:xfrm>
          <a:prstGeom prst="rect">
            <a:avLst/>
          </a:prstGeom>
          <a:noFill/>
          <a:ln/>
        </p:spPr>
        <p:txBody>
          <a:bodyPr wrap="square" lIns="0" tIns="0" rIns="0" bIns="0" rtlCol="0" anchor="t"/>
          <a:lstStyle/>
          <a:p>
            <a:pPr indent="0" marL="0">
              <a:buNone/>
            </a:pPr>
            <a:r>
              <a:rPr lang="en-US" sz="1400" dirty="0">
                <a:solidFill>
                  <a:schemeClr val="tx1"/>
                </a:solidFill>
              </a:rPr>
              <a:t>lines of rules in backend.py</a:t>
            </a:r>
            <a:endParaRPr lang="en-US" sz="1400" dirty="0"/>
          </a:p>
        </p:txBody>
      </p:sp>
      <p:sp>
        <p:nvSpPr>
          <p:cNvPr id="7" name="stat 3"/>
          <p:cNvSpPr txBox="1"/>
          <p:nvPr/>
        </p:nvSpPr>
        <p:spPr>
          <a:xfrm>
            <a:off x="6035040" y="1188720"/>
            <a:ext cx="2606040" cy="868680"/>
          </a:xfrm>
          <a:prstGeom prst="rect">
            <a:avLst/>
          </a:prstGeom>
          <a:noFill/>
          <a:ln/>
        </p:spPr>
        <p:txBody>
          <a:bodyPr wrap="square" lIns="0" tIns="0" rIns="0" bIns="0" rtlCol="0" anchor="ctr"/>
          <a:lstStyle/>
          <a:p>
            <a:pPr indent="0" marL="0">
              <a:buNone/>
            </a:pPr>
            <a:r>
              <a:rPr lang="en-US" sz="6000" b="1" dirty="0">
                <a:solidFill>
                  <a:schemeClr val="accent3"/>
                </a:solidFill>
              </a:rPr>
              <a:t>3</a:t>
            </a:r>
            <a:endParaRPr lang="en-US" sz="6000" dirty="0"/>
          </a:p>
        </p:txBody>
      </p:sp>
      <p:sp>
        <p:nvSpPr>
          <p:cNvPr id="8" name="stat label 3"/>
          <p:cNvSpPr txBox="1"/>
          <p:nvPr/>
        </p:nvSpPr>
        <p:spPr>
          <a:xfrm>
            <a:off x="6035040" y="2057400"/>
            <a:ext cx="2377440" cy="548640"/>
          </a:xfrm>
          <a:prstGeom prst="rect">
            <a:avLst/>
          </a:prstGeom>
          <a:noFill/>
          <a:ln/>
        </p:spPr>
        <p:txBody>
          <a:bodyPr wrap="square" lIns="0" tIns="0" rIns="0" bIns="0" rtlCol="0" anchor="t"/>
          <a:lstStyle/>
          <a:p>
            <a:pPr indent="0" marL="0">
              <a:buNone/>
            </a:pPr>
            <a:r>
              <a:rPr lang="en-US" sz="1400" dirty="0">
                <a:solidFill>
                  <a:schemeClr val="tx1"/>
                </a:solidFill>
              </a:rPr>
              <a:t>uranium for a nuke (it started at 5)</a:t>
            </a:r>
            <a:endParaRPr lang="en-US" sz="1400" dirty="0"/>
          </a:p>
        </p:txBody>
      </p:sp>
      <p:sp>
        <p:nvSpPr>
          <p:cNvPr id="9" name="balance story"/>
          <p:cNvSpPr txBox="1"/>
          <p:nvPr/>
        </p:nvSpPr>
        <p:spPr>
          <a:xfrm>
            <a:off x="457200" y="3017520"/>
            <a:ext cx="8229600" cy="1097280"/>
          </a:xfrm>
          <a:prstGeom prst="rect">
            <a:avLst/>
          </a:prstGeom>
          <a:noFill/>
          <a:ln/>
        </p:spPr>
        <p:txBody>
          <a:bodyPr wrap="square" lIns="0" tIns="0" rIns="0" bIns="0" rtlCol="0" anchor="t"/>
          <a:lstStyle/>
          <a:p>
            <a:pPr indent="0" marL="0">
              <a:buNone/>
            </a:pPr>
            <a:r>
              <a:rPr lang="en-US" sz="1600" b="1" dirty="0">
                <a:solidFill>
                  <a:schemeClr val="tx1"/>
                </a:solidFill>
              </a:rPr>
              <a:t>What happened: </a:t>
            </a:r>
            <a:pPr indent="0" marL="0">
              <a:buNone/>
            </a:pPr>
            <a:r>
              <a:rPr lang="en-US" sz="1600" dirty="0">
                <a:solidFill>
                  <a:schemeClr val="tx1"/>
                </a:solidFill>
              </a:rPr>
              <a:t>at first a nuke cost 5 uranium, and in our test games nobody ever got there. </a:t>
            </a:r>
            <a:pPr indent="0" marL="0">
              <a:buNone/>
            </a:pPr>
            <a:r>
              <a:rPr lang="en-US" sz="1600" b="1" dirty="0">
                <a:solidFill>
                  <a:schemeClr val="tx1"/>
                </a:solidFill>
              </a:rPr>
              <a:t>The fix: </a:t>
            </a:r>
            <a:pPr indent="0" marL="0">
              <a:buNone/>
            </a:pPr>
            <a:r>
              <a:rPr lang="en-US" sz="1600" dirty="0">
                <a:solidFill>
                  <a:schemeClr val="tx1"/>
                </a:solidFill>
              </a:rPr>
              <a:t>3 uranium + 1 ore, uranium from Uranium Shipment cards (+2 each). Now it shows up most games.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914400"/>
          </a:xfrm>
          <a:prstGeom prst="rect">
            <a:avLst/>
          </a:prstGeom>
          <a:noFill/>
          <a:ln/>
        </p:spPr>
        <p:txBody>
          <a:bodyPr wrap="square" lIns="0" tIns="0" rIns="0" bIns="0" rtlCol="0" anchor="b"/>
          <a:lstStyle/>
          <a:p>
            <a:pPr algn="l" indent="0" marL="0">
              <a:buNone/>
            </a:pPr>
            <a:r>
              <a:rPr lang="en-US" sz="4400" b="1" dirty="0">
                <a:solidFill>
                  <a:schemeClr val="bg1"/>
                </a:solidFill>
              </a:rPr>
              <a:t>Live demo</a:t>
            </a:r>
            <a:endParaRPr lang="en-US" sz="4400" dirty="0"/>
          </a:p>
        </p:txBody>
      </p:sp>
      <p:sp>
        <p:nvSpPr>
          <p:cNvPr id="3" name="Text 0"/>
          <p:cNvSpPr/>
          <p:nvPr>
            <p:ph idx="101" type="body" hasCustomPrompt="1"/>
          </p:nvPr>
        </p:nvSpPr>
        <p:spPr>
          <a:xfrm>
            <a:off x="548640" y="2148840"/>
            <a:ext cx="4572000" cy="1645920"/>
          </a:xfrm>
          <a:prstGeom prst="rect">
            <a:avLst/>
          </a:prstGeom>
          <a:noFill/>
          <a:ln/>
        </p:spPr>
        <p:txBody>
          <a:bodyPr wrap="square" lIns="0" tIns="0" rIns="0" bIns="0" rtlCol="0" anchor="t"/>
          <a:lstStyle/>
          <a:p>
            <a:pPr algn="l" indent="0" marL="0">
              <a:buNone/>
            </a:pPr>
            <a:r>
              <a:rPr lang="en-US" sz="2000" dirty="0">
                <a:solidFill>
                  <a:schemeClr val="bg1"/>
                </a:solidFill>
              </a:rPr>
              <a:t>SPACE rolls the dice, E ends your turn,</a:t>
            </a:r>
            <a:endParaRPr lang="en-US" sz="2000" dirty="0"/>
          </a:p>
          <a:p>
            <a:pPr algn="l" indent="0" marL="0">
              <a:buNone/>
            </a:pPr>
            <a:r>
              <a:rPr lang="en-US" sz="2000" dirty="0">
                <a:solidFill>
                  <a:schemeClr val="bg1"/>
                </a:solidFill>
              </a:rPr>
              <a:t>click the board to build.</a:t>
            </a:r>
            <a:endParaRPr lang="en-US" sz="2000" dirty="0"/>
          </a:p>
          <a:p>
            <a:pPr algn="l" indent="0" marL="0">
              <a:buNone/>
            </a:pPr>
            <a:r>
              <a:rPr lang="en-US" sz="2000" b="1" dirty="0">
                <a:solidFill>
                  <a:schemeClr val="accent2"/>
                </a:solidFill>
              </a:rPr>
              <a:t>python main.py</a:t>
            </a:r>
            <a:endParaRPr lang="en-US" sz="2000" dirty="0"/>
          </a:p>
        </p:txBody>
      </p:sp>
      <p:pic>
        <p:nvPicPr>
          <p:cNvPr id="4" name="Board at the start of a game" descr="Board at the start of a game">    </p:cNvPr>
          <p:cNvPicPr>
            <a:picLocks noChangeAspect="1"/>
          </p:cNvPicPr>
          <p:nvPr/>
        </p:nvPicPr>
        <p:blipFill>
          <a:blip r:embed="rId1"/>
          <a:stretch>
            <a:fillRect/>
          </a:stretch>
        </p:blipFill>
        <p:spPr>
          <a:xfrm>
            <a:off x="5394960" y="1188720"/>
            <a:ext cx="3291840" cy="2194560"/>
          </a:xfrm>
          <a:prstGeom prst="rect">
            <a:avLst/>
          </a:prstGeom>
        </p:spPr>
      </p:pic>
      <p:sp>
        <p:nvSpPr>
          <p:cNvPr id="5" name="Board at the start of a game frame"/>
          <p:cNvSpPr/>
          <p:nvPr/>
        </p:nvSpPr>
        <p:spPr>
          <a:xfrm>
            <a:off x="5394960" y="1188720"/>
            <a:ext cx="3291840" cy="2194560"/>
          </a:xfrm>
          <a:prstGeom prst="rect">
            <a:avLst/>
          </a:prstGeom>
          <a:ln w="12700">
            <a:solidFill>
              <a:schemeClr val="tx2"/>
            </a:solidFill>
            <a:prstDash val="solid"/>
          </a:ln>
        </p:spPr>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In case the demo gives up</a:t>
            </a:r>
            <a:endParaRPr lang="en-US" sz="3200" dirty="0"/>
          </a:p>
        </p:txBody>
      </p:sp>
      <p:pic>
        <p:nvPicPr>
          <p:cNvPr id="3" name="A fresh random board" descr="A fresh random board">    </p:cNvPr>
          <p:cNvPicPr>
            <a:picLocks noChangeAspect="1"/>
          </p:cNvPicPr>
          <p:nvPr/>
        </p:nvPicPr>
        <p:blipFill>
          <a:blip r:embed="rId1"/>
          <a:stretch>
            <a:fillRect/>
          </a:stretch>
        </p:blipFill>
        <p:spPr>
          <a:xfrm>
            <a:off x="457200" y="1280160"/>
            <a:ext cx="2606040" cy="1737360"/>
          </a:xfrm>
          <a:prstGeom prst="rect">
            <a:avLst/>
          </a:prstGeom>
        </p:spPr>
      </p:pic>
      <p:sp>
        <p:nvSpPr>
          <p:cNvPr id="4" name="A fresh random board frame"/>
          <p:cNvSpPr/>
          <p:nvPr/>
        </p:nvSpPr>
        <p:spPr>
          <a:xfrm>
            <a:off x="457200" y="1280160"/>
            <a:ext cx="2606040" cy="1737360"/>
          </a:xfrm>
          <a:prstGeom prst="rect">
            <a:avLst/>
          </a:prstGeom>
          <a:ln w="12700">
            <a:solidFill>
              <a:schemeClr val="tx2"/>
            </a:solidFill>
            <a:prstDash val="solid"/>
          </a:ln>
        </p:spPr>
      </p:sp>
      <p:sp>
        <p:nvSpPr>
          <p:cNvPr id="5" name="caption A fresh random board"/>
          <p:cNvSpPr txBox="1"/>
          <p:nvPr/>
        </p:nvSpPr>
        <p:spPr>
          <a:xfrm>
            <a:off x="457200" y="3154680"/>
            <a:ext cx="2606040" cy="365760"/>
          </a:xfrm>
          <a:prstGeom prst="rect">
            <a:avLst/>
          </a:prstGeom>
          <a:noFill/>
          <a:ln/>
        </p:spPr>
        <p:txBody>
          <a:bodyPr wrap="square" lIns="0" tIns="0" rIns="0" bIns="0" rtlCol="0" anchor="ctr"/>
          <a:lstStyle/>
          <a:p>
            <a:pPr indent="0" marL="0">
              <a:buNone/>
            </a:pPr>
            <a:r>
              <a:rPr lang="en-US" sz="1400" dirty="0">
                <a:solidFill>
                  <a:schemeClr val="tx1"/>
                </a:solidFill>
              </a:rPr>
              <a:t>A fresh random board</a:t>
            </a:r>
            <a:endParaRPr lang="en-US" sz="1400" dirty="0"/>
          </a:p>
        </p:txBody>
      </p:sp>
      <p:pic>
        <p:nvPicPr>
          <p:cNvPr id="6" name="Mid-game: hand, orders, scoreboard" descr="Mid-game: hand, orders, scoreboard">    </p:cNvPr>
          <p:cNvPicPr>
            <a:picLocks noChangeAspect="1"/>
          </p:cNvPicPr>
          <p:nvPr/>
        </p:nvPicPr>
        <p:blipFill>
          <a:blip r:embed="rId2"/>
          <a:stretch>
            <a:fillRect/>
          </a:stretch>
        </p:blipFill>
        <p:spPr>
          <a:xfrm>
            <a:off x="3246120" y="1280160"/>
            <a:ext cx="2606040" cy="1737360"/>
          </a:xfrm>
          <a:prstGeom prst="rect">
            <a:avLst/>
          </a:prstGeom>
        </p:spPr>
      </p:pic>
      <p:sp>
        <p:nvSpPr>
          <p:cNvPr id="7" name="Mid-game: hand, orders, scoreboard frame"/>
          <p:cNvSpPr/>
          <p:nvPr/>
        </p:nvSpPr>
        <p:spPr>
          <a:xfrm>
            <a:off x="3246120" y="1280160"/>
            <a:ext cx="2606040" cy="1737360"/>
          </a:xfrm>
          <a:prstGeom prst="rect">
            <a:avLst/>
          </a:prstGeom>
          <a:ln w="12700">
            <a:solidFill>
              <a:schemeClr val="tx2"/>
            </a:solidFill>
            <a:prstDash val="solid"/>
          </a:ln>
        </p:spPr>
      </p:sp>
      <p:sp>
        <p:nvSpPr>
          <p:cNvPr id="8" name="caption Mid-game: hand, orders, scoreboard"/>
          <p:cNvSpPr txBox="1"/>
          <p:nvPr/>
        </p:nvSpPr>
        <p:spPr>
          <a:xfrm>
            <a:off x="3246120" y="3154680"/>
            <a:ext cx="2606040" cy="365760"/>
          </a:xfrm>
          <a:prstGeom prst="rect">
            <a:avLst/>
          </a:prstGeom>
          <a:noFill/>
          <a:ln/>
        </p:spPr>
        <p:txBody>
          <a:bodyPr wrap="square" lIns="0" tIns="0" rIns="0" bIns="0" rtlCol="0" anchor="ctr"/>
          <a:lstStyle/>
          <a:p>
            <a:pPr indent="0" marL="0">
              <a:buNone/>
            </a:pPr>
            <a:r>
              <a:rPr lang="en-US" sz="1400" dirty="0">
                <a:solidFill>
                  <a:schemeClr val="tx1"/>
                </a:solidFill>
              </a:rPr>
              <a:t>Mid-game: hand, orders, scoreboard</a:t>
            </a:r>
            <a:endParaRPr lang="en-US" sz="1400" dirty="0"/>
          </a:p>
        </p:txBody>
      </p:sp>
      <p:pic>
        <p:nvPicPr>
          <p:cNvPr id="9" name="Confirm the launch" descr="Confirm the launch">    </p:cNvPr>
          <p:cNvPicPr>
            <a:picLocks noChangeAspect="1"/>
          </p:cNvPicPr>
          <p:nvPr/>
        </p:nvPicPr>
        <p:blipFill>
          <a:blip r:embed="rId3"/>
          <a:stretch>
            <a:fillRect/>
          </a:stretch>
        </p:blipFill>
        <p:spPr>
          <a:xfrm>
            <a:off x="6035040" y="1280160"/>
            <a:ext cx="2606040" cy="1737360"/>
          </a:xfrm>
          <a:prstGeom prst="rect">
            <a:avLst/>
          </a:prstGeom>
        </p:spPr>
      </p:pic>
      <p:sp>
        <p:nvSpPr>
          <p:cNvPr id="10" name="Confirm the launch frame"/>
          <p:cNvSpPr/>
          <p:nvPr/>
        </p:nvSpPr>
        <p:spPr>
          <a:xfrm>
            <a:off x="6035040" y="1280160"/>
            <a:ext cx="2606040" cy="1737360"/>
          </a:xfrm>
          <a:prstGeom prst="rect">
            <a:avLst/>
          </a:prstGeom>
          <a:ln w="12700">
            <a:solidFill>
              <a:schemeClr val="tx2"/>
            </a:solidFill>
            <a:prstDash val="solid"/>
          </a:ln>
        </p:spPr>
      </p:sp>
      <p:sp>
        <p:nvSpPr>
          <p:cNvPr id="11" name="caption Confirm the launch"/>
          <p:cNvSpPr txBox="1"/>
          <p:nvPr/>
        </p:nvSpPr>
        <p:spPr>
          <a:xfrm>
            <a:off x="6035040" y="3154680"/>
            <a:ext cx="2606040" cy="365760"/>
          </a:xfrm>
          <a:prstGeom prst="rect">
            <a:avLst/>
          </a:prstGeom>
          <a:noFill/>
          <a:ln/>
        </p:spPr>
        <p:txBody>
          <a:bodyPr wrap="square" lIns="0" tIns="0" rIns="0" bIns="0" rtlCol="0" anchor="ctr"/>
          <a:lstStyle/>
          <a:p>
            <a:pPr indent="0" marL="0">
              <a:buNone/>
            </a:pPr>
            <a:r>
              <a:rPr lang="en-US" sz="1400" dirty="0">
                <a:solidFill>
                  <a:schemeClr val="tx1"/>
                </a:solidFill>
              </a:rPr>
              <a:t>Confirm the launch</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we'd do next</a:t>
            </a:r>
            <a:endParaRPr lang="en-US" sz="3200" dirty="0"/>
          </a:p>
        </p:txBody>
      </p:sp>
      <p:sp>
        <p:nvSpPr>
          <p:cNvPr id="3" name="Online play card"/>
          <p:cNvSpPr/>
          <p:nvPr/>
        </p:nvSpPr>
        <p:spPr>
          <a:xfrm>
            <a:off x="457200" y="1188720"/>
            <a:ext cx="2606040" cy="1371600"/>
          </a:xfrm>
          <a:prstGeom prst="rect">
            <a:avLst/>
          </a:prstGeom>
          <a:solidFill>
            <a:schemeClr val="bg2"/>
          </a:solidFill>
          <a:ln/>
        </p:spPr>
      </p:sp>
      <p:sp>
        <p:nvSpPr>
          <p:cNvPr id="4" name="Online play title"/>
          <p:cNvSpPr txBox="1"/>
          <p:nvPr/>
        </p:nvSpPr>
        <p:spPr>
          <a:xfrm>
            <a:off x="640080" y="13533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Online play</a:t>
            </a:r>
            <a:endParaRPr lang="en-US" sz="1800" dirty="0"/>
          </a:p>
        </p:txBody>
      </p:sp>
      <p:sp>
        <p:nvSpPr>
          <p:cNvPr id="5" name="Online play text"/>
          <p:cNvSpPr txBox="1"/>
          <p:nvPr/>
        </p:nvSpPr>
        <p:spPr>
          <a:xfrm>
            <a:off x="640080" y="1783080"/>
            <a:ext cx="2240280" cy="640080"/>
          </a:xfrm>
          <a:prstGeom prst="rect">
            <a:avLst/>
          </a:prstGeom>
          <a:noFill/>
          <a:ln/>
        </p:spPr>
        <p:txBody>
          <a:bodyPr wrap="square" lIns="0" tIns="0" rIns="0" bIns="0" rtlCol="0" anchor="t"/>
          <a:lstStyle/>
          <a:p>
            <a:pPr indent="0" marL="0">
              <a:buNone/>
            </a:pPr>
            <a:r>
              <a:rPr lang="en-US" sz="1400" dirty="0">
                <a:solidFill>
                  <a:schemeClr val="tx1"/>
                </a:solidFill>
              </a:rPr>
              <a:t>Friends join from their own laptops</a:t>
            </a:r>
            <a:endParaRPr lang="en-US" sz="1400" dirty="0"/>
          </a:p>
        </p:txBody>
      </p:sp>
      <p:sp>
        <p:nvSpPr>
          <p:cNvPr id="6" name="Bots card"/>
          <p:cNvSpPr/>
          <p:nvPr/>
        </p:nvSpPr>
        <p:spPr>
          <a:xfrm>
            <a:off x="3246120" y="1188720"/>
            <a:ext cx="2606040" cy="1371600"/>
          </a:xfrm>
          <a:prstGeom prst="rect">
            <a:avLst/>
          </a:prstGeom>
          <a:solidFill>
            <a:schemeClr val="bg2"/>
          </a:solidFill>
          <a:ln/>
        </p:spPr>
      </p:sp>
      <p:sp>
        <p:nvSpPr>
          <p:cNvPr id="7" name="Bots title"/>
          <p:cNvSpPr txBox="1"/>
          <p:nvPr/>
        </p:nvSpPr>
        <p:spPr>
          <a:xfrm>
            <a:off x="3429000" y="13533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Bots</a:t>
            </a:r>
            <a:endParaRPr lang="en-US" sz="1800" dirty="0"/>
          </a:p>
        </p:txBody>
      </p:sp>
      <p:sp>
        <p:nvSpPr>
          <p:cNvPr id="8" name="Bots text"/>
          <p:cNvSpPr txBox="1"/>
          <p:nvPr/>
        </p:nvSpPr>
        <p:spPr>
          <a:xfrm>
            <a:off x="3429000" y="1783080"/>
            <a:ext cx="2240280" cy="640080"/>
          </a:xfrm>
          <a:prstGeom prst="rect">
            <a:avLst/>
          </a:prstGeom>
          <a:noFill/>
          <a:ln/>
        </p:spPr>
        <p:txBody>
          <a:bodyPr wrap="square" lIns="0" tIns="0" rIns="0" bIns="0" rtlCol="0" anchor="t"/>
          <a:lstStyle/>
          <a:p>
            <a:pPr indent="0" marL="0">
              <a:buNone/>
            </a:pPr>
            <a:r>
              <a:rPr lang="en-US" sz="1400" dirty="0">
                <a:solidFill>
                  <a:schemeClr val="tx1"/>
                </a:solidFill>
              </a:rPr>
              <a:t>Fill empty seats, easy to hard</a:t>
            </a:r>
            <a:endParaRPr lang="en-US" sz="1400" dirty="0"/>
          </a:p>
        </p:txBody>
      </p:sp>
      <p:sp>
        <p:nvSpPr>
          <p:cNvPr id="9" name="Sound and music card"/>
          <p:cNvSpPr/>
          <p:nvPr/>
        </p:nvSpPr>
        <p:spPr>
          <a:xfrm>
            <a:off x="6035040" y="1188720"/>
            <a:ext cx="2606040" cy="1371600"/>
          </a:xfrm>
          <a:prstGeom prst="rect">
            <a:avLst/>
          </a:prstGeom>
          <a:solidFill>
            <a:schemeClr val="bg2"/>
          </a:solidFill>
          <a:ln/>
        </p:spPr>
      </p:sp>
      <p:sp>
        <p:nvSpPr>
          <p:cNvPr id="10" name="Sound and music title"/>
          <p:cNvSpPr txBox="1"/>
          <p:nvPr/>
        </p:nvSpPr>
        <p:spPr>
          <a:xfrm>
            <a:off x="6217920" y="13533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Sound and music</a:t>
            </a:r>
            <a:endParaRPr lang="en-US" sz="1800" dirty="0"/>
          </a:p>
        </p:txBody>
      </p:sp>
      <p:sp>
        <p:nvSpPr>
          <p:cNvPr id="11" name="Sound and music text"/>
          <p:cNvSpPr txBox="1"/>
          <p:nvPr/>
        </p:nvSpPr>
        <p:spPr>
          <a:xfrm>
            <a:off x="6217920" y="1783080"/>
            <a:ext cx="2240280" cy="640080"/>
          </a:xfrm>
          <a:prstGeom prst="rect">
            <a:avLst/>
          </a:prstGeom>
          <a:noFill/>
          <a:ln/>
        </p:spPr>
        <p:txBody>
          <a:bodyPr wrap="square" lIns="0" tIns="0" rIns="0" bIns="0" rtlCol="0" anchor="t"/>
          <a:lstStyle/>
          <a:p>
            <a:pPr indent="0" marL="0">
              <a:buNone/>
            </a:pPr>
            <a:r>
              <a:rPr lang="en-US" sz="1400" dirty="0">
                <a:solidFill>
                  <a:schemeClr val="tx1"/>
                </a:solidFill>
              </a:rPr>
              <a:t>Sirens, Geiger counters, 50s radio</a:t>
            </a:r>
            <a:endParaRPr lang="en-US" sz="1400" dirty="0"/>
          </a:p>
        </p:txBody>
      </p:sp>
      <p:sp>
        <p:nvSpPr>
          <p:cNvPr id="12" name="Save and resume card"/>
          <p:cNvSpPr/>
          <p:nvPr/>
        </p:nvSpPr>
        <p:spPr>
          <a:xfrm>
            <a:off x="457200" y="2788920"/>
            <a:ext cx="2606040" cy="1371600"/>
          </a:xfrm>
          <a:prstGeom prst="rect">
            <a:avLst/>
          </a:prstGeom>
          <a:solidFill>
            <a:schemeClr val="bg2"/>
          </a:solidFill>
          <a:ln/>
        </p:spPr>
      </p:sp>
      <p:sp>
        <p:nvSpPr>
          <p:cNvPr id="13" name="Save and resume title"/>
          <p:cNvSpPr txBox="1"/>
          <p:nvPr/>
        </p:nvSpPr>
        <p:spPr>
          <a:xfrm>
            <a:off x="640080" y="29535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Save and resume</a:t>
            </a:r>
            <a:endParaRPr lang="en-US" sz="1800" dirty="0"/>
          </a:p>
        </p:txBody>
      </p:sp>
      <p:sp>
        <p:nvSpPr>
          <p:cNvPr id="14" name="Save and resume text"/>
          <p:cNvSpPr txBox="1"/>
          <p:nvPr/>
        </p:nvSpPr>
        <p:spPr>
          <a:xfrm>
            <a:off x="640080" y="3383280"/>
            <a:ext cx="2240280" cy="640080"/>
          </a:xfrm>
          <a:prstGeom prst="rect">
            <a:avLst/>
          </a:prstGeom>
          <a:noFill/>
          <a:ln/>
        </p:spPr>
        <p:txBody>
          <a:bodyPr wrap="square" lIns="0" tIns="0" rIns="0" bIns="0" rtlCol="0" anchor="t"/>
          <a:lstStyle/>
          <a:p>
            <a:pPr indent="0" marL="0">
              <a:buNone/>
            </a:pPr>
            <a:r>
              <a:rPr lang="en-US" sz="1400" dirty="0">
                <a:solidFill>
                  <a:schemeClr val="tx1"/>
                </a:solidFill>
              </a:rPr>
              <a:t>Pick a game back up later</a:t>
            </a:r>
            <a:endParaRPr lang="en-US" sz="1400" dirty="0"/>
          </a:p>
        </p:txBody>
      </p:sp>
      <p:sp>
        <p:nvSpPr>
          <p:cNvPr id="15" name="Play in a browser card"/>
          <p:cNvSpPr/>
          <p:nvPr/>
        </p:nvSpPr>
        <p:spPr>
          <a:xfrm>
            <a:off x="3246120" y="2788920"/>
            <a:ext cx="2606040" cy="1371600"/>
          </a:xfrm>
          <a:prstGeom prst="rect">
            <a:avLst/>
          </a:prstGeom>
          <a:solidFill>
            <a:schemeClr val="bg2"/>
          </a:solidFill>
          <a:ln/>
        </p:spPr>
      </p:sp>
      <p:sp>
        <p:nvSpPr>
          <p:cNvPr id="16" name="Play in a browser title"/>
          <p:cNvSpPr txBox="1"/>
          <p:nvPr/>
        </p:nvSpPr>
        <p:spPr>
          <a:xfrm>
            <a:off x="3429000" y="29535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Play in a browser</a:t>
            </a:r>
            <a:endParaRPr lang="en-US" sz="1800" dirty="0"/>
          </a:p>
        </p:txBody>
      </p:sp>
      <p:sp>
        <p:nvSpPr>
          <p:cNvPr id="17" name="Play in a browser text"/>
          <p:cNvSpPr txBox="1"/>
          <p:nvPr/>
        </p:nvSpPr>
        <p:spPr>
          <a:xfrm>
            <a:off x="3429000" y="3383280"/>
            <a:ext cx="2240280" cy="640080"/>
          </a:xfrm>
          <a:prstGeom prst="rect">
            <a:avLst/>
          </a:prstGeom>
          <a:noFill/>
          <a:ln/>
        </p:spPr>
        <p:txBody>
          <a:bodyPr wrap="square" lIns="0" tIns="0" rIns="0" bIns="0" rtlCol="0" anchor="t"/>
          <a:lstStyle/>
          <a:p>
            <a:pPr indent="0" marL="0">
              <a:buNone/>
            </a:pPr>
            <a:r>
              <a:rPr lang="en-US" sz="1400" dirty="0">
                <a:solidFill>
                  <a:schemeClr val="tx1"/>
                </a:solidFill>
              </a:rPr>
              <a:t>Nothing to install</a:t>
            </a:r>
            <a:endParaRPr lang="en-US" sz="1400" dirty="0"/>
          </a:p>
        </p:txBody>
      </p:sp>
      <p:sp>
        <p:nvSpPr>
          <p:cNvPr id="18" name="Colour-blind mode card"/>
          <p:cNvSpPr/>
          <p:nvPr/>
        </p:nvSpPr>
        <p:spPr>
          <a:xfrm>
            <a:off x="6035040" y="2788920"/>
            <a:ext cx="2606040" cy="1371600"/>
          </a:xfrm>
          <a:prstGeom prst="rect">
            <a:avLst/>
          </a:prstGeom>
          <a:solidFill>
            <a:schemeClr val="bg2"/>
          </a:solidFill>
          <a:ln/>
        </p:spPr>
      </p:sp>
      <p:sp>
        <p:nvSpPr>
          <p:cNvPr id="19" name="Colour-blind mode title"/>
          <p:cNvSpPr txBox="1"/>
          <p:nvPr/>
        </p:nvSpPr>
        <p:spPr>
          <a:xfrm>
            <a:off x="6217920" y="29535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Colour-blind mode</a:t>
            </a:r>
            <a:endParaRPr lang="en-US" sz="1800" dirty="0"/>
          </a:p>
        </p:txBody>
      </p:sp>
      <p:sp>
        <p:nvSpPr>
          <p:cNvPr id="20" name="Colour-blind mode text"/>
          <p:cNvSpPr txBox="1"/>
          <p:nvPr/>
        </p:nvSpPr>
        <p:spPr>
          <a:xfrm>
            <a:off x="6217920" y="3383280"/>
            <a:ext cx="2240280" cy="640080"/>
          </a:xfrm>
          <a:prstGeom prst="rect">
            <a:avLst/>
          </a:prstGeom>
          <a:noFill/>
          <a:ln/>
        </p:spPr>
        <p:txBody>
          <a:bodyPr wrap="square" lIns="0" tIns="0" rIns="0" bIns="0" rtlCol="0" anchor="t"/>
          <a:lstStyle/>
          <a:p>
            <a:pPr indent="0" marL="0">
              <a:buNone/>
            </a:pPr>
            <a:r>
              <a:rPr lang="en-US" sz="1400" dirty="0">
                <a:solidFill>
                  <a:schemeClr val="tx1"/>
                </a:solidFill>
              </a:rPr>
              <a:t>Patterns on top of player colours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914400"/>
          </a:xfrm>
          <a:prstGeom prst="rect">
            <a:avLst/>
          </a:prstGeom>
          <a:noFill/>
          <a:ln/>
        </p:spPr>
        <p:txBody>
          <a:bodyPr wrap="square" lIns="0" tIns="0" rIns="0" bIns="0" rtlCol="0" anchor="b"/>
          <a:lstStyle/>
          <a:p>
            <a:pPr algn="l" indent="0" marL="0">
              <a:buNone/>
            </a:pPr>
            <a:r>
              <a:rPr lang="en-US" sz="4400" b="1" dirty="0">
                <a:solidFill>
                  <a:schemeClr val="bg1"/>
                </a:solidFill>
              </a:rPr>
              <a:t>Questions?</a:t>
            </a:r>
            <a:endParaRPr lang="en-US" sz="4400" dirty="0"/>
          </a:p>
        </p:txBody>
      </p:sp>
      <p:sp>
        <p:nvSpPr>
          <p:cNvPr id="3" name="Text 0"/>
          <p:cNvSpPr/>
          <p:nvPr>
            <p:ph idx="101" type="body" hasCustomPrompt="1"/>
          </p:nvPr>
        </p:nvSpPr>
        <p:spPr>
          <a:xfrm>
            <a:off x="548640" y="2148840"/>
            <a:ext cx="4572000" cy="1645920"/>
          </a:xfrm>
          <a:prstGeom prst="rect">
            <a:avLst/>
          </a:prstGeom>
          <a:noFill/>
          <a:ln/>
        </p:spPr>
        <p:txBody>
          <a:bodyPr wrap="square" lIns="0" tIns="0" rIns="0" bIns="0" rtlCol="0" anchor="t"/>
          <a:lstStyle/>
          <a:p>
            <a:pPr algn="l" indent="0" marL="0">
              <a:buNone/>
            </a:pPr>
            <a:r>
              <a:rPr lang="en-US" sz="2000" dirty="0">
                <a:solidFill>
                  <a:schemeClr val="bg1"/>
                </a:solidFill>
              </a:rPr>
              <a:t>Thanks for listening!</a:t>
            </a:r>
            <a:endParaRPr lang="en-US" sz="2000" dirty="0"/>
          </a:p>
          <a:p>
            <a:pPr algn="l" indent="0" marL="0">
              <a:buNone/>
            </a:pPr>
            <a:r>
              <a:rPr lang="en-US" sz="2000" dirty="0">
                <a:solidFill>
                  <a:schemeClr val="accent2"/>
                </a:solidFill>
              </a:rPr>
              <a:t>Daniyal, Mustafa, Abdullah, Taha</a:t>
            </a:r>
            <a:endParaRPr lang="en-US" sz="2000" dirty="0"/>
          </a:p>
        </p:txBody>
      </p:sp>
      <p:pic>
        <p:nvPicPr>
          <p:cNvPr id="4" name="The bomb going off" descr="The bomb going off">    </p:cNvPr>
          <p:cNvPicPr>
            <a:picLocks noChangeAspect="1"/>
          </p:cNvPicPr>
          <p:nvPr/>
        </p:nvPicPr>
        <p:blipFill>
          <a:blip r:embed="rId1"/>
          <a:stretch>
            <a:fillRect/>
          </a:stretch>
        </p:blipFill>
        <p:spPr>
          <a:xfrm>
            <a:off x="5029200" y="1188720"/>
            <a:ext cx="3657600" cy="2438400"/>
          </a:xfrm>
          <a:prstGeom prst="rect">
            <a:avLst/>
          </a:prstGeom>
        </p:spPr>
      </p:pic>
      <p:sp>
        <p:nvSpPr>
          <p:cNvPr id="5" name="The bomb going off frame"/>
          <p:cNvSpPr/>
          <p:nvPr/>
        </p:nvSpPr>
        <p:spPr>
          <a:xfrm>
            <a:off x="5029200" y="1188720"/>
            <a:ext cx="3657600" cy="2438400"/>
          </a:xfrm>
          <a:prstGeom prst="rect">
            <a:avLst/>
          </a:prstGeom>
          <a:ln w="12700">
            <a:solidFill>
              <a:schemeClr val="tx2"/>
            </a:solidFill>
            <a:prstDash val="solid"/>
          </a:ln>
        </p:spPr>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old War Catan">
  <a:themeElements>
    <a:clrScheme name="Cold War Catan">
      <a:dk1>
        <a:srgbClr val="1F2433"/>
      </a:dk1>
      <a:lt1>
        <a:srgbClr val="FFFFFF"/>
      </a:lt1>
      <a:dk2>
        <a:srgbClr val="1B2559"/>
      </a:dk2>
      <a:lt2>
        <a:srgbClr val="EEF2F8"/>
      </a:lt2>
      <a:accent1>
        <a:srgbClr val="4FA33F"/>
      </a:accent1>
      <a:accent2>
        <a:srgbClr val="F2C230"/>
      </a:accent2>
      <a:accent3>
        <a:srgbClr val="D9493A"/>
      </a:accent3>
      <a:accent4>
        <a:srgbClr val="3E6FD8"/>
      </a:accent4>
      <a:accent5>
        <a:srgbClr val="8C93A8"/>
      </a:accent5>
      <a:accent6>
        <a:srgbClr val="F7E27A"/>
      </a:accent6>
      <a:hlink>
        <a:srgbClr val="3E6FD8"/>
      </a:hlink>
      <a:folHlink>
        <a:srgbClr val="6C4BB0"/>
      </a:folHlink>
    </a:clrScheme>
    <a:fontScheme name="Cold War Cata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Catan: Cold War Edition</dc:title>
  <dc:subject>PptxGenJS Presentation</dc:subject>
  <dc:creator>SEC 2026 team</dc:creator>
  <cp:lastModifiedBy>SEC 2026 team</cp:lastModifiedBy>
  <cp:revision>1</cp:revision>
  <dcterms:created xsi:type="dcterms:W3CDTF">2026-10-24T22:51:49Z</dcterms:created>
  <dcterms:modified xsi:type="dcterms:W3CDTF">2026-10-24T22:51:49Z</dcterms:modified>
</cp:coreProperties>
</file>