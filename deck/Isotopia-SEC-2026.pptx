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7ad05d1-7ebb-cc10-7d91-b78aa8eff3ed}">
          <p14:sldIdLst>
            <p14:sldId id="256"/>
            <p14:sldId id="257"/>
          </p14:sldIdLst>
        </p14:section>
        <p14:section name="Design process" id="{b695b53a-bbe3-85b2-8f89-82fd7a470a9a}">
          <p14:sldIdLst>
            <p14:sldId id="258"/>
            <p14:sldId id="259"/>
            <p14:sldId id="260"/>
            <p14:sldId id="261"/>
            <p14:sldId id="262"/>
            <p14:sldId id="263"/>
            <p14:sldId id="264"/>
            <p14:sldId id="265"/>
          </p14:sldIdLst>
        </p14:section>
        <p14:section name="Demo" id="{45b82329-86a3-4e5b-e733-a3016b2f89fa}">
          <p14:sldIdLst>
            <p14:sldId id="266"/>
            <p14:sldId id="267"/>
          </p14:sldIdLst>
        </p14:section>
        <p14:section name="Wrap-up" id="{2b1ffe3c-8d16-2e8e-b3de-9342e68c5805}">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We're [team]. This morning we built Isotopia: it's Catan, but set on a 1950s island where you can collect uranium and, well, drop a bomb. We'll quickly cover what Catan is, how we got from a blank whiteboard to this, then show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Catan recap for anyone who hasn't played. The whole game is this loop: roll the dice, every tile with that number pays the people living next to it, you trade for what you're missing, and you build. Roads let you expand, settlements give points, and first to 10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all like Catan, but we noticed the same three complaints every time we play: it takes forever, someone new always has to sit through the rules, and you can't really play it with friends who aren't in the room. So that became our problem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pretty much our whiteboard at 9am. We threw out a bunch of themes and twists, no idea too dumb, then everyone got three votes. The crossed out ones lost. The bomb idea won the twist vote by a mile.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settle the theme argument we did a quick weighted decision matrix. We weighted fun and easy-to-learn highest because those were our objectives. Medieval was safe, but Atomic Age was more original and naturally gave us a new resource.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engineering design stuff. Objectives are the things we wanted to maximize. Constraints were hard limits: we had to use Python and pygame, it had to run in a browser so friends don't install anything, and it couldn't cost money. Functions are what the game actually has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everything we changed. Mostly we cut stuff to make it faster and easier, then added one big new idea: the bomb. Collect five uranium and you can turn any land into a crater, destroying every building on it, unless it has a fallout shelter.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version this morning was all keyboard and terminal: SPACE to roll, E to end the turn, and the dice roll themselves after 10 seconds so nobody stalls. Once the rules worked, we rebuilt the screen so you just click on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decision was keeping all the rules in one file with no graphics. That made it easy to test, and the bots and online play just use the same rules. For online, one friend's browser runs the actual game and sends everyone their own view, so you can't see other people's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favourite bug. We let the bots play 200 games, and one game lasted 460 rounds. Turns out with unlimited bombs they turned the whole island into craters, so nobody could ever win. Limiting it to one bomb each fixed it, and the longest game dropped to 45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plan: 1) host a table and show the invite link. 2) Someone joins from their phone. 3) Place houses, roll, build. 4) If someone has 5 uranium, drop the bomb. If the Wi-Fi dies, flip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screenshots: the online lobby with the invite link, the bomb confirmation that tells you exactly what gets destroyed, and the explosion.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had another Saturday: trading between players online is the big one, then bot difficulty levels, a portrait layout for phones, and a colour-blind friendly mode since player colours matter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it, thanks! Happy to take questions about the game, the code, or why we thought adding nukes to Catan was a good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206240" cy="9144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2240280"/>
            <a:ext cx="4023360" cy="822960"/>
          </a:xfrm>
          <a:prstGeom prst="rect">
            <a:avLst/>
          </a:prstGeom>
          <a:noFill/>
          <a:ln/>
        </p:spPr>
        <p:txBody>
          <a:bodyPr wrap="square" rtlCol="0"/>
          <a:lstStyle>
            <a:lvl1pPr algn="l" indent="0" marL="0">
              <a:buNone/>
              <a:defRPr lang="en-US" sz="2000" dirty="0">
                <a:solidFill>
                  <a:schemeClr val="accent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57200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148840"/>
            <a:ext cx="4572000" cy="164592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206240" cy="914400"/>
          </a:xfrm>
          <a:prstGeom prst="rect">
            <a:avLst/>
          </a:prstGeom>
          <a:noFill/>
          <a:ln/>
        </p:spPr>
        <p:txBody>
          <a:bodyPr wrap="square" lIns="0" tIns="0" rIns="0" bIns="0" rtlCol="0" anchor="b"/>
          <a:lstStyle/>
          <a:p>
            <a:pPr algn="l" indent="0" marL="0">
              <a:buNone/>
            </a:pPr>
            <a:r>
              <a:rPr lang="en-US" sz="4800" b="1" dirty="0">
                <a:solidFill>
                  <a:schemeClr val="bg1"/>
                </a:solidFill>
              </a:rPr>
              <a:t>Isotopia</a:t>
            </a:r>
            <a:endParaRPr lang="en-US" sz="4800" dirty="0"/>
          </a:p>
        </p:txBody>
      </p:sp>
      <p:sp>
        <p:nvSpPr>
          <p:cNvPr id="3" name="Text 0"/>
          <p:cNvSpPr/>
          <p:nvPr>
            <p:ph idx="101" type="body" hasCustomPrompt="1"/>
          </p:nvPr>
        </p:nvSpPr>
        <p:spPr>
          <a:xfrm>
            <a:off x="548640" y="2240280"/>
            <a:ext cx="4023360" cy="822960"/>
          </a:xfrm>
          <a:prstGeom prst="rect">
            <a:avLst/>
          </a:prstGeom>
          <a:noFill/>
          <a:ln/>
        </p:spPr>
        <p:txBody>
          <a:bodyPr wrap="square" lIns="0" tIns="0" rIns="0" bIns="0" rtlCol="0" anchor="t"/>
          <a:lstStyle/>
          <a:p>
            <a:pPr algn="l" indent="0" marL="0">
              <a:buNone/>
            </a:pPr>
            <a:r>
              <a:rPr lang="en-US" sz="2000" dirty="0">
                <a:solidFill>
                  <a:schemeClr val="accent2"/>
                </a:solidFill>
              </a:rPr>
              <a:t>Our Catan remake, set in the atomic age</a:t>
            </a:r>
            <a:endParaRPr lang="en-US" sz="2000" dirty="0"/>
          </a:p>
        </p:txBody>
      </p:sp>
      <p:sp>
        <p:nvSpPr>
          <p:cNvPr id="4" name="event and team"/>
          <p:cNvSpPr txBox="1"/>
          <p:nvPr/>
        </p:nvSpPr>
        <p:spPr>
          <a:xfrm>
            <a:off x="548640" y="3840480"/>
            <a:ext cx="4023360" cy="640080"/>
          </a:xfrm>
          <a:prstGeom prst="rect">
            <a:avLst/>
          </a:prstGeom>
          <a:noFill/>
          <a:ln/>
        </p:spPr>
        <p:txBody>
          <a:bodyPr wrap="square" lIns="0" tIns="0" rIns="0" bIns="0" rtlCol="0" anchor="ctr"/>
          <a:lstStyle/>
          <a:p>
            <a:pPr indent="0" marL="0">
              <a:buNone/>
            </a:pPr>
            <a:r>
              <a:rPr lang="en-US" sz="1400" dirty="0">
                <a:solidFill>
                  <a:schemeClr val="bg2"/>
                </a:solidFill>
              </a:rPr>
              <a:t>Saskatoon Engineering Competition 2026</a:t>
            </a:r>
            <a:endParaRPr lang="en-US" sz="1400" dirty="0"/>
          </a:p>
          <a:p>
            <a:pPr indent="0" marL="0">
              <a:buNone/>
            </a:pPr>
            <a:r>
              <a:rPr lang="en-US" sz="1400" dirty="0">
                <a:solidFill>
                  <a:schemeClr val="bg2"/>
                </a:solidFill>
              </a:rPr>
              <a:t>Team: add your names here</a:t>
            </a:r>
            <a:endParaRPr lang="en-US" sz="1400" dirty="0"/>
          </a:p>
        </p:txBody>
      </p:sp>
      <p:pic>
        <p:nvPicPr>
          <p:cNvPr id="5" name="Title screen of the game" descr="Title screen of the game">    </p:cNvPr>
          <p:cNvPicPr>
            <a:picLocks noChangeAspect="1"/>
          </p:cNvPicPr>
          <p:nvPr/>
        </p:nvPicPr>
        <p:blipFill>
          <a:blip r:embed="rId1"/>
          <a:stretch>
            <a:fillRect/>
          </a:stretch>
        </p:blipFill>
        <p:spPr>
          <a:xfrm>
            <a:off x="4846320" y="1188720"/>
            <a:ext cx="3840480" cy="2304288"/>
          </a:xfrm>
          <a:prstGeom prst="rect">
            <a:avLst/>
          </a:prstGeom>
        </p:spPr>
      </p:pic>
      <p:sp>
        <p:nvSpPr>
          <p:cNvPr id="6" name="Title screen of the game frame"/>
          <p:cNvSpPr/>
          <p:nvPr/>
        </p:nvSpPr>
        <p:spPr>
          <a:xfrm>
            <a:off x="4846320" y="1188720"/>
            <a:ext cx="3840480" cy="2304288"/>
          </a:xfrm>
          <a:prstGeom prst="rect">
            <a:avLst/>
          </a:prstGeom>
          <a:ln w="12700">
            <a:solidFill>
              <a:schemeClr val="tx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First, what is Catan?</a:t>
            </a:r>
            <a:endParaRPr lang="en-US" sz="3200" dirty="0"/>
          </a:p>
        </p:txBody>
      </p:sp>
      <p:sp>
        <p:nvSpPr>
          <p:cNvPr id="3" name="catan basics"/>
          <p:cNvSpPr txBox="1"/>
          <p:nvPr/>
        </p:nvSpPr>
        <p:spPr>
          <a:xfrm>
            <a:off x="457200" y="1188720"/>
            <a:ext cx="4206240" cy="329184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A board game from 1995 by Klaus Teuber, one of the best-selling board games ever</a:t>
            </a:r>
            <a:endParaRPr lang="en-US" sz="1600" dirty="0"/>
          </a:p>
          <a:p>
            <a:pPr marL="342900" indent="-342900">
              <a:spcAft>
                <a:spcPts val="800"/>
              </a:spcAft>
              <a:buSzPct val="100000"/>
              <a:buChar char="•"/>
            </a:pPr>
            <a:r>
              <a:rPr lang="en-US" sz="1600" dirty="0">
                <a:solidFill>
                  <a:schemeClr val="tx1"/>
                </a:solidFill>
              </a:rPr>
              <a:t>The board is an island of hexagon tiles: forest, hills, fields and more</a:t>
            </a:r>
            <a:endParaRPr lang="en-US" sz="1600" dirty="0"/>
          </a:p>
          <a:p>
            <a:pPr marL="342900" indent="-342900">
              <a:spcAft>
                <a:spcPts val="800"/>
              </a:spcAft>
              <a:buSzPct val="100000"/>
              <a:buChar char="•"/>
            </a:pPr>
            <a:r>
              <a:rPr lang="en-US" sz="1600" dirty="0">
                <a:solidFill>
                  <a:schemeClr val="tx1"/>
                </a:solidFill>
              </a:rPr>
              <a:t>Each tile has a number. Roll the dice, and tiles with that number pay resources</a:t>
            </a:r>
            <a:endParaRPr lang="en-US" sz="1600" dirty="0"/>
          </a:p>
          <a:p>
            <a:pPr marL="342900" indent="-342900">
              <a:spcAft>
                <a:spcPts val="800"/>
              </a:spcAft>
              <a:buSzPct val="100000"/>
              <a:buChar char="•"/>
            </a:pPr>
            <a:r>
              <a:rPr lang="en-US" sz="1600" dirty="0">
                <a:solidFill>
                  <a:schemeClr val="tx1"/>
                </a:solidFill>
              </a:rPr>
              <a:t>Spend resources on roads, settlements and cities. First to 10 points wins</a:t>
            </a:r>
            <a:endParaRPr lang="en-US" sz="1600" dirty="0"/>
          </a:p>
        </p:txBody>
      </p:sp>
      <p:sp>
        <p:nvSpPr>
          <p:cNvPr id="4" name="Roll circle"/>
          <p:cNvSpPr/>
          <p:nvPr/>
        </p:nvSpPr>
        <p:spPr>
          <a:xfrm>
            <a:off x="6720840" y="1188720"/>
            <a:ext cx="1005840" cy="1005840"/>
          </a:xfrm>
          <a:prstGeom prst="ellipse">
            <a:avLst/>
          </a:prstGeom>
          <a:solidFill>
            <a:schemeClr val="accent2"/>
          </a:solidFill>
          <a:ln w="19050">
            <a:solidFill>
              <a:schemeClr val="tx2"/>
            </a:solidFill>
            <a:prstDash val="solid"/>
          </a:ln>
        </p:spPr>
      </p:sp>
      <p:sp>
        <p:nvSpPr>
          <p:cNvPr id="5" name="Roll label"/>
          <p:cNvSpPr txBox="1"/>
          <p:nvPr/>
        </p:nvSpPr>
        <p:spPr>
          <a:xfrm>
            <a:off x="6720840" y="1188720"/>
            <a:ext cx="1005840" cy="1005840"/>
          </a:xfrm>
          <a:prstGeom prst="rect">
            <a:avLst/>
          </a:prstGeom>
          <a:noFill/>
          <a:ln/>
        </p:spPr>
        <p:txBody>
          <a:bodyPr wrap="square" lIns="0" tIns="0" rIns="0" bIns="0" rtlCol="0" anchor="ctr"/>
          <a:lstStyle/>
          <a:p>
            <a:pPr algn="ctr" indent="0" marL="0">
              <a:buNone/>
            </a:pPr>
            <a:r>
              <a:rPr lang="en-US" sz="1600" b="1" dirty="0">
                <a:solidFill>
                  <a:schemeClr val="tx2"/>
                </a:solidFill>
              </a:rPr>
              <a:t>Roll</a:t>
            </a:r>
            <a:endParaRPr lang="en-US" sz="1600" dirty="0"/>
          </a:p>
        </p:txBody>
      </p:sp>
      <p:sp>
        <p:nvSpPr>
          <p:cNvPr id="6" name="Collect circle"/>
          <p:cNvSpPr/>
          <p:nvPr/>
        </p:nvSpPr>
        <p:spPr>
          <a:xfrm>
            <a:off x="7909560" y="2331720"/>
            <a:ext cx="1005840" cy="1005840"/>
          </a:xfrm>
          <a:prstGeom prst="ellipse">
            <a:avLst/>
          </a:prstGeom>
          <a:solidFill>
            <a:schemeClr val="bg2"/>
          </a:solidFill>
          <a:ln w="19050">
            <a:solidFill>
              <a:schemeClr val="tx2"/>
            </a:solidFill>
            <a:prstDash val="solid"/>
          </a:ln>
        </p:spPr>
      </p:sp>
      <p:sp>
        <p:nvSpPr>
          <p:cNvPr id="7" name="Collect label"/>
          <p:cNvSpPr txBox="1"/>
          <p:nvPr/>
        </p:nvSpPr>
        <p:spPr>
          <a:xfrm>
            <a:off x="7909560" y="2331720"/>
            <a:ext cx="1005840" cy="1005840"/>
          </a:xfrm>
          <a:prstGeom prst="rect">
            <a:avLst/>
          </a:prstGeom>
          <a:noFill/>
          <a:ln/>
        </p:spPr>
        <p:txBody>
          <a:bodyPr wrap="square" lIns="0" tIns="0" rIns="0" bIns="0" rtlCol="0" anchor="ctr"/>
          <a:lstStyle/>
          <a:p>
            <a:pPr algn="ctr" indent="0" marL="0">
              <a:buNone/>
            </a:pPr>
            <a:r>
              <a:rPr lang="en-US" sz="1600" b="1" dirty="0">
                <a:solidFill>
                  <a:schemeClr val="tx2"/>
                </a:solidFill>
              </a:rPr>
              <a:t>Collect</a:t>
            </a:r>
            <a:endParaRPr lang="en-US" sz="1600" dirty="0"/>
          </a:p>
        </p:txBody>
      </p:sp>
      <p:sp>
        <p:nvSpPr>
          <p:cNvPr id="8" name="Trade circle"/>
          <p:cNvSpPr/>
          <p:nvPr/>
        </p:nvSpPr>
        <p:spPr>
          <a:xfrm>
            <a:off x="6720840" y="3474720"/>
            <a:ext cx="1005840" cy="1005840"/>
          </a:xfrm>
          <a:prstGeom prst="ellipse">
            <a:avLst/>
          </a:prstGeom>
          <a:solidFill>
            <a:schemeClr val="bg2"/>
          </a:solidFill>
          <a:ln w="19050">
            <a:solidFill>
              <a:schemeClr val="tx2"/>
            </a:solidFill>
            <a:prstDash val="solid"/>
          </a:ln>
        </p:spPr>
      </p:sp>
      <p:sp>
        <p:nvSpPr>
          <p:cNvPr id="9" name="Trade label"/>
          <p:cNvSpPr txBox="1"/>
          <p:nvPr/>
        </p:nvSpPr>
        <p:spPr>
          <a:xfrm>
            <a:off x="6720840" y="3474720"/>
            <a:ext cx="1005840" cy="1005840"/>
          </a:xfrm>
          <a:prstGeom prst="rect">
            <a:avLst/>
          </a:prstGeom>
          <a:noFill/>
          <a:ln/>
        </p:spPr>
        <p:txBody>
          <a:bodyPr wrap="square" lIns="0" tIns="0" rIns="0" bIns="0" rtlCol="0" anchor="ctr"/>
          <a:lstStyle/>
          <a:p>
            <a:pPr algn="ctr" indent="0" marL="0">
              <a:buNone/>
            </a:pPr>
            <a:r>
              <a:rPr lang="en-US" sz="1600" b="1" dirty="0">
                <a:solidFill>
                  <a:schemeClr val="tx2"/>
                </a:solidFill>
              </a:rPr>
              <a:t>Trade</a:t>
            </a:r>
            <a:endParaRPr lang="en-US" sz="1600" dirty="0"/>
          </a:p>
        </p:txBody>
      </p:sp>
      <p:sp>
        <p:nvSpPr>
          <p:cNvPr id="10" name="Build circle"/>
          <p:cNvSpPr/>
          <p:nvPr/>
        </p:nvSpPr>
        <p:spPr>
          <a:xfrm>
            <a:off x="5532120" y="2331720"/>
            <a:ext cx="1005840" cy="1005840"/>
          </a:xfrm>
          <a:prstGeom prst="ellipse">
            <a:avLst/>
          </a:prstGeom>
          <a:solidFill>
            <a:schemeClr val="bg2"/>
          </a:solidFill>
          <a:ln w="19050">
            <a:solidFill>
              <a:schemeClr val="tx2"/>
            </a:solidFill>
            <a:prstDash val="solid"/>
          </a:ln>
        </p:spPr>
      </p:sp>
      <p:sp>
        <p:nvSpPr>
          <p:cNvPr id="11" name="Build label"/>
          <p:cNvSpPr txBox="1"/>
          <p:nvPr/>
        </p:nvSpPr>
        <p:spPr>
          <a:xfrm>
            <a:off x="5532120" y="2331720"/>
            <a:ext cx="1005840" cy="1005840"/>
          </a:xfrm>
          <a:prstGeom prst="rect">
            <a:avLst/>
          </a:prstGeom>
          <a:noFill/>
          <a:ln/>
        </p:spPr>
        <p:txBody>
          <a:bodyPr wrap="square" lIns="0" tIns="0" rIns="0" bIns="0" rtlCol="0" anchor="ctr"/>
          <a:lstStyle/>
          <a:p>
            <a:pPr algn="ctr" indent="0" marL="0">
              <a:buNone/>
            </a:pPr>
            <a:r>
              <a:rPr lang="en-US" sz="1600" b="1" dirty="0">
                <a:solidFill>
                  <a:schemeClr val="tx2"/>
                </a:solidFill>
              </a:rPr>
              <a:t>Build</a:t>
            </a:r>
            <a:endParaRPr lang="en-US" sz="1600" dirty="0"/>
          </a:p>
        </p:txBody>
      </p:sp>
      <p:sp>
        <p:nvSpPr>
          <p:cNvPr id="12" name="roll to collect"/>
          <p:cNvSpPr/>
          <p:nvPr/>
        </p:nvSpPr>
        <p:spPr>
          <a:xfrm>
            <a:off x="7635240" y="2011680"/>
            <a:ext cx="365760" cy="365760"/>
          </a:xfrm>
          <a:prstGeom prst="line">
            <a:avLst/>
          </a:prstGeom>
          <a:noFill/>
          <a:ln w="19050">
            <a:solidFill>
              <a:schemeClr val="tx2"/>
            </a:solidFill>
            <a:prstDash val="solid"/>
            <a:tailEnd type="triangle"/>
          </a:ln>
        </p:spPr>
      </p:sp>
      <p:sp>
        <p:nvSpPr>
          <p:cNvPr id="13" name="collect to trade"/>
          <p:cNvSpPr/>
          <p:nvPr/>
        </p:nvSpPr>
        <p:spPr>
          <a:xfrm flipH="1">
            <a:off x="7635240" y="3246120"/>
            <a:ext cx="365760" cy="365760"/>
          </a:xfrm>
          <a:prstGeom prst="line">
            <a:avLst/>
          </a:prstGeom>
          <a:noFill/>
          <a:ln w="19050">
            <a:solidFill>
              <a:schemeClr val="tx2"/>
            </a:solidFill>
            <a:prstDash val="solid"/>
            <a:tailEnd type="triangle"/>
          </a:ln>
        </p:spPr>
      </p:sp>
      <p:sp>
        <p:nvSpPr>
          <p:cNvPr id="14" name="trade to build"/>
          <p:cNvSpPr/>
          <p:nvPr/>
        </p:nvSpPr>
        <p:spPr>
          <a:xfrm flipH="1" flipV="1">
            <a:off x="6263640" y="3246120"/>
            <a:ext cx="365760" cy="365760"/>
          </a:xfrm>
          <a:prstGeom prst="line">
            <a:avLst/>
          </a:prstGeom>
          <a:noFill/>
          <a:ln w="19050">
            <a:solidFill>
              <a:schemeClr val="tx2"/>
            </a:solidFill>
            <a:prstDash val="solid"/>
            <a:tailEnd type="triangle"/>
          </a:ln>
        </p:spPr>
      </p:sp>
      <p:sp>
        <p:nvSpPr>
          <p:cNvPr id="15" name="build to roll"/>
          <p:cNvSpPr/>
          <p:nvPr/>
        </p:nvSpPr>
        <p:spPr>
          <a:xfrm flipV="1">
            <a:off x="6263640" y="2011680"/>
            <a:ext cx="365760" cy="365760"/>
          </a:xfrm>
          <a:prstGeom prst="line">
            <a:avLst/>
          </a:prstGeom>
          <a:noFill/>
          <a:ln w="19050">
            <a:solidFill>
              <a:schemeClr val="tx2"/>
            </a:solidFill>
            <a:prstDash val="solid"/>
            <a:tailEnd type="triangle"/>
          </a:ln>
        </p:spPr>
      </p:sp>
      <p:sp>
        <p:nvSpPr>
          <p:cNvPr id="16" name="loop caption"/>
          <p:cNvSpPr txBox="1"/>
          <p:nvPr/>
        </p:nvSpPr>
        <p:spPr>
          <a:xfrm>
            <a:off x="5120640" y="4526280"/>
            <a:ext cx="3657600" cy="320040"/>
          </a:xfrm>
          <a:prstGeom prst="rect">
            <a:avLst/>
          </a:prstGeom>
          <a:noFill/>
          <a:ln/>
        </p:spPr>
        <p:txBody>
          <a:bodyPr wrap="square" lIns="0" tIns="0" rIns="0" bIns="0" rtlCol="0" anchor="ctr"/>
          <a:lstStyle/>
          <a:p>
            <a:pPr algn="ctr" indent="0" marL="0">
              <a:buNone/>
            </a:pPr>
            <a:r>
              <a:rPr lang="en-US" sz="1200" i="1" dirty="0">
                <a:solidFill>
                  <a:schemeClr val="accent5"/>
                </a:solidFill>
              </a:rPr>
              <a:t>Every turn: roll, collect, trade, build</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The problem we picked</a:t>
            </a:r>
            <a:endParaRPr lang="en-US" sz="3200" dirty="0"/>
          </a:p>
        </p:txBody>
      </p:sp>
      <p:sp>
        <p:nvSpPr>
          <p:cNvPr id="3" name="Long games box"/>
          <p:cNvSpPr/>
          <p:nvPr/>
        </p:nvSpPr>
        <p:spPr>
          <a:xfrm>
            <a:off x="457200" y="1188720"/>
            <a:ext cx="2606040" cy="1371600"/>
          </a:xfrm>
          <a:prstGeom prst="rect">
            <a:avLst/>
          </a:prstGeom>
          <a:solidFill>
            <a:schemeClr val="bg2"/>
          </a:solidFill>
          <a:ln/>
        </p:spPr>
      </p:sp>
      <p:sp>
        <p:nvSpPr>
          <p:cNvPr id="4" name="Long games title"/>
          <p:cNvSpPr txBox="1"/>
          <p:nvPr/>
        </p:nvSpPr>
        <p:spPr>
          <a:xfrm>
            <a:off x="640080" y="1325880"/>
            <a:ext cx="2240280" cy="457200"/>
          </a:xfrm>
          <a:prstGeom prst="rect">
            <a:avLst/>
          </a:prstGeom>
          <a:noFill/>
          <a:ln/>
        </p:spPr>
        <p:txBody>
          <a:bodyPr wrap="square" lIns="0" tIns="0" rIns="0" bIns="0" rtlCol="0" anchor="ctr"/>
          <a:lstStyle/>
          <a:p>
            <a:pPr indent="0" marL="0">
              <a:buNone/>
            </a:pPr>
            <a:r>
              <a:rPr lang="en-US" sz="2200" b="1" dirty="0">
                <a:solidFill>
                  <a:schemeClr val="accent3"/>
                </a:solidFill>
              </a:rPr>
              <a:t>Long games</a:t>
            </a:r>
            <a:endParaRPr lang="en-US" sz="2200" dirty="0"/>
          </a:p>
        </p:txBody>
      </p:sp>
      <p:sp>
        <p:nvSpPr>
          <p:cNvPr id="5" name="Long games text"/>
          <p:cNvSpPr txBox="1"/>
          <p:nvPr/>
        </p:nvSpPr>
        <p:spPr>
          <a:xfrm>
            <a:off x="640080" y="1783080"/>
            <a:ext cx="2240280" cy="685800"/>
          </a:xfrm>
          <a:prstGeom prst="rect">
            <a:avLst/>
          </a:prstGeom>
          <a:noFill/>
          <a:ln/>
        </p:spPr>
        <p:txBody>
          <a:bodyPr wrap="square" lIns="0" tIns="0" rIns="0" bIns="0" rtlCol="0" anchor="t"/>
          <a:lstStyle/>
          <a:p>
            <a:pPr indent="0" marL="0">
              <a:buNone/>
            </a:pPr>
            <a:r>
              <a:rPr lang="en-US" sz="1400" dirty="0">
                <a:solidFill>
                  <a:schemeClr val="tx1"/>
                </a:solidFill>
              </a:rPr>
              <a:t>A full game easily runs over an hour.</a:t>
            </a:r>
            <a:endParaRPr lang="en-US" sz="1400" dirty="0"/>
          </a:p>
        </p:txBody>
      </p:sp>
      <p:sp>
        <p:nvSpPr>
          <p:cNvPr id="6" name="Rules first box"/>
          <p:cNvSpPr/>
          <p:nvPr/>
        </p:nvSpPr>
        <p:spPr>
          <a:xfrm>
            <a:off x="3246120" y="1188720"/>
            <a:ext cx="2606040" cy="1371600"/>
          </a:xfrm>
          <a:prstGeom prst="rect">
            <a:avLst/>
          </a:prstGeom>
          <a:solidFill>
            <a:schemeClr val="bg2"/>
          </a:solidFill>
          <a:ln/>
        </p:spPr>
      </p:sp>
      <p:sp>
        <p:nvSpPr>
          <p:cNvPr id="7" name="Rules first title"/>
          <p:cNvSpPr txBox="1"/>
          <p:nvPr/>
        </p:nvSpPr>
        <p:spPr>
          <a:xfrm>
            <a:off x="3429000" y="1325880"/>
            <a:ext cx="2240280" cy="457200"/>
          </a:xfrm>
          <a:prstGeom prst="rect">
            <a:avLst/>
          </a:prstGeom>
          <a:noFill/>
          <a:ln/>
        </p:spPr>
        <p:txBody>
          <a:bodyPr wrap="square" lIns="0" tIns="0" rIns="0" bIns="0" rtlCol="0" anchor="ctr"/>
          <a:lstStyle/>
          <a:p>
            <a:pPr indent="0" marL="0">
              <a:buNone/>
            </a:pPr>
            <a:r>
              <a:rPr lang="en-US" sz="2200" b="1" dirty="0">
                <a:solidFill>
                  <a:schemeClr val="accent3"/>
                </a:solidFill>
              </a:rPr>
              <a:t>Rules first</a:t>
            </a:r>
            <a:endParaRPr lang="en-US" sz="2200" dirty="0"/>
          </a:p>
        </p:txBody>
      </p:sp>
      <p:sp>
        <p:nvSpPr>
          <p:cNvPr id="8" name="Rules first text"/>
          <p:cNvSpPr txBox="1"/>
          <p:nvPr/>
        </p:nvSpPr>
        <p:spPr>
          <a:xfrm>
            <a:off x="3429000" y="1783080"/>
            <a:ext cx="2240280" cy="685800"/>
          </a:xfrm>
          <a:prstGeom prst="rect">
            <a:avLst/>
          </a:prstGeom>
          <a:noFill/>
          <a:ln/>
        </p:spPr>
        <p:txBody>
          <a:bodyPr wrap="square" lIns="0" tIns="0" rIns="0" bIns="0" rtlCol="0" anchor="t"/>
          <a:lstStyle/>
          <a:p>
            <a:pPr indent="0" marL="0">
              <a:buNone/>
            </a:pPr>
            <a:r>
              <a:rPr lang="en-US" sz="1400" dirty="0">
                <a:solidFill>
                  <a:schemeClr val="tx1"/>
                </a:solidFill>
              </a:rPr>
              <a:t>New players read a rulebook before their first roll.</a:t>
            </a:r>
            <a:endParaRPr lang="en-US" sz="1400" dirty="0"/>
          </a:p>
        </p:txBody>
      </p:sp>
      <p:sp>
        <p:nvSpPr>
          <p:cNvPr id="9" name="Same table box"/>
          <p:cNvSpPr/>
          <p:nvPr/>
        </p:nvSpPr>
        <p:spPr>
          <a:xfrm>
            <a:off x="6035040" y="1188720"/>
            <a:ext cx="2606040" cy="1371600"/>
          </a:xfrm>
          <a:prstGeom prst="rect">
            <a:avLst/>
          </a:prstGeom>
          <a:solidFill>
            <a:schemeClr val="bg2"/>
          </a:solidFill>
          <a:ln/>
        </p:spPr>
      </p:sp>
      <p:sp>
        <p:nvSpPr>
          <p:cNvPr id="10" name="Same table title"/>
          <p:cNvSpPr txBox="1"/>
          <p:nvPr/>
        </p:nvSpPr>
        <p:spPr>
          <a:xfrm>
            <a:off x="6217920" y="1325880"/>
            <a:ext cx="2240280" cy="457200"/>
          </a:xfrm>
          <a:prstGeom prst="rect">
            <a:avLst/>
          </a:prstGeom>
          <a:noFill/>
          <a:ln/>
        </p:spPr>
        <p:txBody>
          <a:bodyPr wrap="square" lIns="0" tIns="0" rIns="0" bIns="0" rtlCol="0" anchor="ctr"/>
          <a:lstStyle/>
          <a:p>
            <a:pPr indent="0" marL="0">
              <a:buNone/>
            </a:pPr>
            <a:r>
              <a:rPr lang="en-US" sz="2200" b="1" dirty="0">
                <a:solidFill>
                  <a:schemeClr val="accent3"/>
                </a:solidFill>
              </a:rPr>
              <a:t>Same table</a:t>
            </a:r>
            <a:endParaRPr lang="en-US" sz="2200" dirty="0"/>
          </a:p>
        </p:txBody>
      </p:sp>
      <p:sp>
        <p:nvSpPr>
          <p:cNvPr id="11" name="Same table text"/>
          <p:cNvSpPr txBox="1"/>
          <p:nvPr/>
        </p:nvSpPr>
        <p:spPr>
          <a:xfrm>
            <a:off x="6217920" y="1783080"/>
            <a:ext cx="2240280" cy="685800"/>
          </a:xfrm>
          <a:prstGeom prst="rect">
            <a:avLst/>
          </a:prstGeom>
          <a:noFill/>
          <a:ln/>
        </p:spPr>
        <p:txBody>
          <a:bodyPr wrap="square" lIns="0" tIns="0" rIns="0" bIns="0" rtlCol="0" anchor="t"/>
          <a:lstStyle/>
          <a:p>
            <a:pPr indent="0" marL="0">
              <a:buNone/>
            </a:pPr>
            <a:r>
              <a:rPr lang="en-US" sz="1400" dirty="0">
                <a:solidFill>
                  <a:schemeClr val="tx1"/>
                </a:solidFill>
              </a:rPr>
              <a:t>Everyone has to be in the same room.</a:t>
            </a:r>
            <a:endParaRPr lang="en-US" sz="1400" dirty="0"/>
          </a:p>
        </p:txBody>
      </p:sp>
      <p:sp>
        <p:nvSpPr>
          <p:cNvPr id="12" name="problem statement"/>
          <p:cNvSpPr txBox="1"/>
          <p:nvPr/>
        </p:nvSpPr>
        <p:spPr>
          <a:xfrm>
            <a:off x="457200" y="2971800"/>
            <a:ext cx="8229600" cy="1371600"/>
          </a:xfrm>
          <a:prstGeom prst="rect">
            <a:avLst/>
          </a:prstGeom>
          <a:noFill/>
          <a:ln/>
        </p:spPr>
        <p:txBody>
          <a:bodyPr wrap="square" lIns="0" tIns="0" rIns="0" bIns="0" rtlCol="0" anchor="t"/>
          <a:lstStyle/>
          <a:p>
            <a:pPr indent="0" marL="0">
              <a:buNone/>
            </a:pPr>
            <a:r>
              <a:rPr lang="en-US" sz="1600" b="1" dirty="0">
                <a:solidFill>
                  <a:schemeClr val="tx2"/>
                </a:solidFill>
              </a:rPr>
              <a:t>Problem statement</a:t>
            </a:r>
            <a:endParaRPr lang="en-US" sz="1600" dirty="0"/>
          </a:p>
          <a:p>
            <a:pPr indent="0" marL="0">
              <a:buNone/>
            </a:pPr>
            <a:r>
              <a:rPr lang="en-US" sz="2000" dirty="0">
                <a:solidFill>
                  <a:schemeClr val="tx1"/>
                </a:solidFill>
              </a:rPr>
              <a:t>Make a Catan-style game that someone can learn in a few minutes, finish in about half an hour, and play with friends online.</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Saturday morning brainstorm</a:t>
            </a:r>
            <a:endParaRPr lang="en-US" sz="3200" dirty="0"/>
          </a:p>
        </p:txBody>
      </p:sp>
      <p:sp>
        <p:nvSpPr>
          <p:cNvPr id="3" name="sticky Medieval kingdom"/>
          <p:cNvSpPr/>
          <p:nvPr/>
        </p:nvSpPr>
        <p:spPr>
          <a:xfrm rot="-180000">
            <a:off x="548640" y="1143000"/>
            <a:ext cx="1783080" cy="868680"/>
          </a:xfrm>
          <a:prstGeom prst="rect">
            <a:avLst/>
          </a:prstGeom>
          <a:solidFill>
            <a:srgbClr val="F7E27A"/>
          </a:solidFill>
          <a:ln/>
          <a:effectLst>
            <a:outerShdw sx="100000" sy="100000" kx="0" ky="0" algn="bl" rotWithShape="0" blurRad="38100" dist="25400" dir="2700000">
              <a:srgbClr val="000000">
                <a:alpha val="20000"/>
              </a:srgbClr>
            </a:outerShdw>
          </a:effectLst>
        </p:spPr>
      </p:sp>
      <p:sp>
        <p:nvSpPr>
          <p:cNvPr id="4" name="sticky text Medieval kingdom"/>
          <p:cNvSpPr txBox="1"/>
          <p:nvPr/>
        </p:nvSpPr>
        <p:spPr>
          <a:xfrm rot="-180000">
            <a:off x="640080" y="1188720"/>
            <a:ext cx="1600200" cy="777240"/>
          </a:xfrm>
          <a:prstGeom prst="rect">
            <a:avLst/>
          </a:prstGeom>
          <a:noFill/>
          <a:ln/>
        </p:spPr>
        <p:txBody>
          <a:bodyPr wrap="square" lIns="0" tIns="0" rIns="0" bIns="0" rtlCol="0" anchor="ctr"/>
          <a:lstStyle/>
          <a:p>
            <a:pPr algn="ctr" indent="0" marL="0">
              <a:buNone/>
            </a:pPr>
            <a:r>
              <a:rPr lang="en-US" sz="1400" dirty="0">
                <a:solidFill>
                  <a:srgbClr val="333333"/>
                </a:solidFill>
              </a:rPr>
              <a:t>Medieval kingdom</a:t>
            </a:r>
            <a:endParaRPr lang="en-US" sz="1400" dirty="0"/>
          </a:p>
        </p:txBody>
      </p:sp>
      <p:sp>
        <p:nvSpPr>
          <p:cNvPr id="5" name="sticky Wasteland rebuild"/>
          <p:cNvSpPr/>
          <p:nvPr/>
        </p:nvSpPr>
        <p:spPr>
          <a:xfrm rot="120000">
            <a:off x="2606040" y="1143000"/>
            <a:ext cx="1783080" cy="868680"/>
          </a:xfrm>
          <a:prstGeom prst="rect">
            <a:avLst/>
          </a:prstGeom>
          <a:solidFill>
            <a:srgbClr val="F7E27A"/>
          </a:solidFill>
          <a:ln/>
          <a:effectLst>
            <a:outerShdw sx="100000" sy="100000" kx="0" ky="0" algn="bl" rotWithShape="0" blurRad="38100" dist="25400" dir="2700000">
              <a:srgbClr val="000000">
                <a:alpha val="20000"/>
              </a:srgbClr>
            </a:outerShdw>
          </a:effectLst>
        </p:spPr>
      </p:sp>
      <p:sp>
        <p:nvSpPr>
          <p:cNvPr id="6" name="sticky text Wasteland rebuild"/>
          <p:cNvSpPr txBox="1"/>
          <p:nvPr/>
        </p:nvSpPr>
        <p:spPr>
          <a:xfrm rot="120000">
            <a:off x="2697480" y="1188720"/>
            <a:ext cx="1600200" cy="777240"/>
          </a:xfrm>
          <a:prstGeom prst="rect">
            <a:avLst/>
          </a:prstGeom>
          <a:noFill/>
          <a:ln/>
        </p:spPr>
        <p:txBody>
          <a:bodyPr wrap="square" lIns="0" tIns="0" rIns="0" bIns="0" rtlCol="0" anchor="ctr"/>
          <a:lstStyle/>
          <a:p>
            <a:pPr algn="ctr" indent="0" marL="0">
              <a:buNone/>
            </a:pPr>
            <a:r>
              <a:rPr lang="en-US" sz="1400" strike="sngStrike" dirty="0">
                <a:solidFill>
                  <a:srgbClr val="333333"/>
                </a:solidFill>
              </a:rPr>
              <a:t>Wasteland rebuild</a:t>
            </a:r>
            <a:endParaRPr lang="en-US" sz="1400" dirty="0"/>
          </a:p>
        </p:txBody>
      </p:sp>
      <p:sp>
        <p:nvSpPr>
          <p:cNvPr id="7" name="sticky Power grid tycoon"/>
          <p:cNvSpPr/>
          <p:nvPr/>
        </p:nvSpPr>
        <p:spPr>
          <a:xfrm rot="-60000">
            <a:off x="4663440" y="1143000"/>
            <a:ext cx="1783080" cy="868680"/>
          </a:xfrm>
          <a:prstGeom prst="rect">
            <a:avLst/>
          </a:prstGeom>
          <a:solidFill>
            <a:srgbClr val="F7E27A"/>
          </a:solidFill>
          <a:ln/>
          <a:effectLst>
            <a:outerShdw sx="100000" sy="100000" kx="0" ky="0" algn="bl" rotWithShape="0" blurRad="38100" dist="25400" dir="2700000">
              <a:srgbClr val="000000">
                <a:alpha val="20000"/>
              </a:srgbClr>
            </a:outerShdw>
          </a:effectLst>
        </p:spPr>
      </p:sp>
      <p:sp>
        <p:nvSpPr>
          <p:cNvPr id="8" name="sticky text Power grid tycoon"/>
          <p:cNvSpPr txBox="1"/>
          <p:nvPr/>
        </p:nvSpPr>
        <p:spPr>
          <a:xfrm rot="-60000">
            <a:off x="4754880" y="1188720"/>
            <a:ext cx="1600200" cy="777240"/>
          </a:xfrm>
          <a:prstGeom prst="rect">
            <a:avLst/>
          </a:prstGeom>
          <a:noFill/>
          <a:ln/>
        </p:spPr>
        <p:txBody>
          <a:bodyPr wrap="square" lIns="0" tIns="0" rIns="0" bIns="0" rtlCol="0" anchor="ctr"/>
          <a:lstStyle/>
          <a:p>
            <a:pPr algn="ctr" indent="0" marL="0">
              <a:buNone/>
            </a:pPr>
            <a:r>
              <a:rPr lang="en-US" sz="1400" strike="sngStrike" dirty="0">
                <a:solidFill>
                  <a:srgbClr val="333333"/>
                </a:solidFill>
              </a:rPr>
              <a:t>Power grid tycoon</a:t>
            </a:r>
            <a:endParaRPr lang="en-US" sz="1400" dirty="0"/>
          </a:p>
        </p:txBody>
      </p:sp>
      <p:sp>
        <p:nvSpPr>
          <p:cNvPr id="9" name="sticky Atomic Age 1950s"/>
          <p:cNvSpPr/>
          <p:nvPr/>
        </p:nvSpPr>
        <p:spPr>
          <a:xfrm rot="180000">
            <a:off x="6720840" y="1143000"/>
            <a:ext cx="1783080" cy="868680"/>
          </a:xfrm>
          <a:prstGeom prst="rect">
            <a:avLst/>
          </a:prstGeom>
          <a:solidFill>
            <a:srgbClr val="F7E27A"/>
          </a:solidFill>
          <a:ln/>
          <a:effectLst>
            <a:outerShdw sx="100000" sy="100000" kx="0" ky="0" algn="bl" rotWithShape="0" blurRad="38100" dist="25400" dir="2700000">
              <a:srgbClr val="000000">
                <a:alpha val="20000"/>
              </a:srgbClr>
            </a:outerShdw>
          </a:effectLst>
        </p:spPr>
      </p:sp>
      <p:sp>
        <p:nvSpPr>
          <p:cNvPr id="10" name="sticky text Atomic Age 1950s"/>
          <p:cNvSpPr txBox="1"/>
          <p:nvPr/>
        </p:nvSpPr>
        <p:spPr>
          <a:xfrm rot="180000">
            <a:off x="6812280" y="1188720"/>
            <a:ext cx="1600200" cy="777240"/>
          </a:xfrm>
          <a:prstGeom prst="rect">
            <a:avLst/>
          </a:prstGeom>
          <a:noFill/>
          <a:ln/>
        </p:spPr>
        <p:txBody>
          <a:bodyPr wrap="square" lIns="0" tIns="0" rIns="0" bIns="0" rtlCol="0" anchor="ctr"/>
          <a:lstStyle/>
          <a:p>
            <a:pPr algn="ctr" indent="0" marL="0">
              <a:buNone/>
            </a:pPr>
            <a:r>
              <a:rPr lang="en-US" sz="1400" b="1" dirty="0">
                <a:solidFill>
                  <a:srgbClr val="333333"/>
                </a:solidFill>
              </a:rPr>
              <a:t>✓ Atomic Age 1950s</a:t>
            </a:r>
            <a:endParaRPr lang="en-US" sz="1400" dirty="0"/>
          </a:p>
        </p:txBody>
      </p:sp>
      <p:sp>
        <p:nvSpPr>
          <p:cNvPr id="11" name="sticky Reactors make double"/>
          <p:cNvSpPr/>
          <p:nvPr/>
        </p:nvSpPr>
        <p:spPr>
          <a:xfrm rot="120000">
            <a:off x="548640" y="2194560"/>
            <a:ext cx="1783080" cy="868680"/>
          </a:xfrm>
          <a:prstGeom prst="rect">
            <a:avLst/>
          </a:prstGeom>
          <a:solidFill>
            <a:srgbClr val="F6B9C9"/>
          </a:solidFill>
          <a:ln/>
          <a:effectLst>
            <a:outerShdw sx="100000" sy="100000" kx="0" ky="0" algn="bl" rotWithShape="0" blurRad="38100" dist="25400" dir="2700000">
              <a:srgbClr val="000000">
                <a:alpha val="20000"/>
              </a:srgbClr>
            </a:outerShdw>
          </a:effectLst>
        </p:spPr>
      </p:sp>
      <p:sp>
        <p:nvSpPr>
          <p:cNvPr id="12" name="sticky text Reactors make double"/>
          <p:cNvSpPr txBox="1"/>
          <p:nvPr/>
        </p:nvSpPr>
        <p:spPr>
          <a:xfrm rot="120000">
            <a:off x="640080" y="2240280"/>
            <a:ext cx="1600200" cy="777240"/>
          </a:xfrm>
          <a:prstGeom prst="rect">
            <a:avLst/>
          </a:prstGeom>
          <a:noFill/>
          <a:ln/>
        </p:spPr>
        <p:txBody>
          <a:bodyPr wrap="square" lIns="0" tIns="0" rIns="0" bIns="0" rtlCol="0" anchor="ctr"/>
          <a:lstStyle/>
          <a:p>
            <a:pPr algn="ctr" indent="0" marL="0">
              <a:buNone/>
            </a:pPr>
            <a:r>
              <a:rPr lang="en-US" sz="1400" strike="sngStrike" dirty="0">
                <a:solidFill>
                  <a:srgbClr val="333333"/>
                </a:solidFill>
              </a:rPr>
              <a:t>Reactors make double</a:t>
            </a:r>
            <a:endParaRPr lang="en-US" sz="1400" dirty="0"/>
          </a:p>
        </p:txBody>
      </p:sp>
      <p:sp>
        <p:nvSpPr>
          <p:cNvPr id="13" name="sticky Meltdown on a 7?"/>
          <p:cNvSpPr/>
          <p:nvPr/>
        </p:nvSpPr>
        <p:spPr>
          <a:xfrm rot="-120000">
            <a:off x="2606040" y="2194560"/>
            <a:ext cx="1783080" cy="868680"/>
          </a:xfrm>
          <a:prstGeom prst="rect">
            <a:avLst/>
          </a:prstGeom>
          <a:solidFill>
            <a:srgbClr val="F6B9C9"/>
          </a:solidFill>
          <a:ln/>
          <a:effectLst>
            <a:outerShdw sx="100000" sy="100000" kx="0" ky="0" algn="bl" rotWithShape="0" blurRad="38100" dist="25400" dir="2700000">
              <a:srgbClr val="000000">
                <a:alpha val="20000"/>
              </a:srgbClr>
            </a:outerShdw>
          </a:effectLst>
        </p:spPr>
      </p:sp>
      <p:sp>
        <p:nvSpPr>
          <p:cNvPr id="14" name="sticky text Meltdown on a 7?"/>
          <p:cNvSpPr txBox="1"/>
          <p:nvPr/>
        </p:nvSpPr>
        <p:spPr>
          <a:xfrm rot="-120000">
            <a:off x="2697480" y="2240280"/>
            <a:ext cx="1600200" cy="777240"/>
          </a:xfrm>
          <a:prstGeom prst="rect">
            <a:avLst/>
          </a:prstGeom>
          <a:noFill/>
          <a:ln/>
        </p:spPr>
        <p:txBody>
          <a:bodyPr wrap="square" lIns="0" tIns="0" rIns="0" bIns="0" rtlCol="0" anchor="ctr"/>
          <a:lstStyle/>
          <a:p>
            <a:pPr algn="ctr" indent="0" marL="0">
              <a:buNone/>
            </a:pPr>
            <a:r>
              <a:rPr lang="en-US" sz="1400" strike="sngStrike" dirty="0">
                <a:solidFill>
                  <a:srgbClr val="333333"/>
                </a:solidFill>
              </a:rPr>
              <a:t>Meltdown on a 7?</a:t>
            </a:r>
            <a:endParaRPr lang="en-US" sz="1400" dirty="0"/>
          </a:p>
        </p:txBody>
      </p:sp>
      <p:sp>
        <p:nvSpPr>
          <p:cNvPr id="15" name="sticky Uranium bomb wipes out a land"/>
          <p:cNvSpPr/>
          <p:nvPr/>
        </p:nvSpPr>
        <p:spPr>
          <a:xfrm rot="-180000">
            <a:off x="4663440" y="2194560"/>
            <a:ext cx="1783080" cy="868680"/>
          </a:xfrm>
          <a:prstGeom prst="rect">
            <a:avLst/>
          </a:prstGeom>
          <a:solidFill>
            <a:srgbClr val="F6B9C9"/>
          </a:solidFill>
          <a:ln/>
          <a:effectLst>
            <a:outerShdw sx="100000" sy="100000" kx="0" ky="0" algn="bl" rotWithShape="0" blurRad="38100" dist="25400" dir="2700000">
              <a:srgbClr val="000000">
                <a:alpha val="20000"/>
              </a:srgbClr>
            </a:outerShdw>
          </a:effectLst>
        </p:spPr>
      </p:sp>
      <p:sp>
        <p:nvSpPr>
          <p:cNvPr id="16" name="sticky text Uranium bomb wipes out a land"/>
          <p:cNvSpPr txBox="1"/>
          <p:nvPr/>
        </p:nvSpPr>
        <p:spPr>
          <a:xfrm rot="-180000">
            <a:off x="4754880" y="2240280"/>
            <a:ext cx="1600200" cy="777240"/>
          </a:xfrm>
          <a:prstGeom prst="rect">
            <a:avLst/>
          </a:prstGeom>
          <a:noFill/>
          <a:ln/>
        </p:spPr>
        <p:txBody>
          <a:bodyPr wrap="square" lIns="0" tIns="0" rIns="0" bIns="0" rtlCol="0" anchor="ctr"/>
          <a:lstStyle/>
          <a:p>
            <a:pPr algn="ctr" indent="0" marL="0">
              <a:buNone/>
            </a:pPr>
            <a:r>
              <a:rPr lang="en-US" sz="1400" b="1" dirty="0">
                <a:solidFill>
                  <a:srgbClr val="333333"/>
                </a:solidFill>
              </a:rPr>
              <a:t>✓ Uranium bomb wipes out a land</a:t>
            </a:r>
            <a:endParaRPr lang="en-US" sz="1400" dirty="0"/>
          </a:p>
        </p:txBody>
      </p:sp>
      <p:sp>
        <p:nvSpPr>
          <p:cNvPr id="17" name="sticky Fallout shelters"/>
          <p:cNvSpPr/>
          <p:nvPr/>
        </p:nvSpPr>
        <p:spPr>
          <a:xfrm rot="60000">
            <a:off x="6720840" y="2194560"/>
            <a:ext cx="1783080" cy="868680"/>
          </a:xfrm>
          <a:prstGeom prst="rect">
            <a:avLst/>
          </a:prstGeom>
          <a:solidFill>
            <a:srgbClr val="F6B9C9"/>
          </a:solidFill>
          <a:ln/>
          <a:effectLst>
            <a:outerShdw sx="100000" sy="100000" kx="0" ky="0" algn="bl" rotWithShape="0" blurRad="38100" dist="25400" dir="2700000">
              <a:srgbClr val="000000">
                <a:alpha val="20000"/>
              </a:srgbClr>
            </a:outerShdw>
          </a:effectLst>
        </p:spPr>
      </p:sp>
      <p:sp>
        <p:nvSpPr>
          <p:cNvPr id="18" name="sticky text Fallout shelters"/>
          <p:cNvSpPr txBox="1"/>
          <p:nvPr/>
        </p:nvSpPr>
        <p:spPr>
          <a:xfrm rot="60000">
            <a:off x="6812280" y="2240280"/>
            <a:ext cx="1600200" cy="777240"/>
          </a:xfrm>
          <a:prstGeom prst="rect">
            <a:avLst/>
          </a:prstGeom>
          <a:noFill/>
          <a:ln/>
        </p:spPr>
        <p:txBody>
          <a:bodyPr wrap="square" lIns="0" tIns="0" rIns="0" bIns="0" rtlCol="0" anchor="ctr"/>
          <a:lstStyle/>
          <a:p>
            <a:pPr algn="ctr" indent="0" marL="0">
              <a:buNone/>
            </a:pPr>
            <a:r>
              <a:rPr lang="en-US" sz="1400" b="1" dirty="0">
                <a:solidFill>
                  <a:srgbClr val="333333"/>
                </a:solidFill>
              </a:rPr>
              <a:t>✓ Fallout shelters</a:t>
            </a:r>
            <a:endParaRPr lang="en-US" sz="1400" dirty="0"/>
          </a:p>
        </p:txBody>
      </p:sp>
      <p:sp>
        <p:nvSpPr>
          <p:cNvPr id="19" name="sticky Seasons change the map"/>
          <p:cNvSpPr/>
          <p:nvPr/>
        </p:nvSpPr>
        <p:spPr>
          <a:xfrm rot="-120000">
            <a:off x="548640" y="3246120"/>
            <a:ext cx="1783080" cy="868680"/>
          </a:xfrm>
          <a:prstGeom prst="rect">
            <a:avLst/>
          </a:prstGeom>
          <a:solidFill>
            <a:srgbClr val="BFE6B0"/>
          </a:solidFill>
          <a:ln/>
          <a:effectLst>
            <a:outerShdw sx="100000" sy="100000" kx="0" ky="0" algn="bl" rotWithShape="0" blurRad="38100" dist="25400" dir="2700000">
              <a:srgbClr val="000000">
                <a:alpha val="20000"/>
              </a:srgbClr>
            </a:outerShdw>
          </a:effectLst>
        </p:spPr>
      </p:sp>
      <p:sp>
        <p:nvSpPr>
          <p:cNvPr id="20" name="sticky text Seasons change the map"/>
          <p:cNvSpPr txBox="1"/>
          <p:nvPr/>
        </p:nvSpPr>
        <p:spPr>
          <a:xfrm rot="-120000">
            <a:off x="640080" y="3291840"/>
            <a:ext cx="1600200" cy="777240"/>
          </a:xfrm>
          <a:prstGeom prst="rect">
            <a:avLst/>
          </a:prstGeom>
          <a:noFill/>
          <a:ln/>
        </p:spPr>
        <p:txBody>
          <a:bodyPr wrap="square" lIns="0" tIns="0" rIns="0" bIns="0" rtlCol="0" anchor="ctr"/>
          <a:lstStyle/>
          <a:p>
            <a:pPr algn="ctr" indent="0" marL="0">
              <a:buNone/>
            </a:pPr>
            <a:r>
              <a:rPr lang="en-US" sz="1400" strike="sngStrike" dirty="0">
                <a:solidFill>
                  <a:srgbClr val="333333"/>
                </a:solidFill>
              </a:rPr>
              <a:t>Seasons change the map</a:t>
            </a:r>
            <a:endParaRPr lang="en-US" sz="1400" dirty="0"/>
          </a:p>
        </p:txBody>
      </p:sp>
      <p:sp>
        <p:nvSpPr>
          <p:cNvPr id="21" name="sticky Bots for empty seats"/>
          <p:cNvSpPr/>
          <p:nvPr/>
        </p:nvSpPr>
        <p:spPr>
          <a:xfrm rot="180000">
            <a:off x="2606040" y="3246120"/>
            <a:ext cx="1783080" cy="868680"/>
          </a:xfrm>
          <a:prstGeom prst="rect">
            <a:avLst/>
          </a:prstGeom>
          <a:solidFill>
            <a:srgbClr val="BFE6B0"/>
          </a:solidFill>
          <a:ln/>
          <a:effectLst>
            <a:outerShdw sx="100000" sy="100000" kx="0" ky="0" algn="bl" rotWithShape="0" blurRad="38100" dist="25400" dir="2700000">
              <a:srgbClr val="000000">
                <a:alpha val="20000"/>
              </a:srgbClr>
            </a:outerShdw>
          </a:effectLst>
        </p:spPr>
      </p:sp>
      <p:sp>
        <p:nvSpPr>
          <p:cNvPr id="22" name="sticky text Bots for empty seats"/>
          <p:cNvSpPr txBox="1"/>
          <p:nvPr/>
        </p:nvSpPr>
        <p:spPr>
          <a:xfrm rot="180000">
            <a:off x="2697480" y="3291840"/>
            <a:ext cx="1600200" cy="777240"/>
          </a:xfrm>
          <a:prstGeom prst="rect">
            <a:avLst/>
          </a:prstGeom>
          <a:noFill/>
          <a:ln/>
        </p:spPr>
        <p:txBody>
          <a:bodyPr wrap="square" lIns="0" tIns="0" rIns="0" bIns="0" rtlCol="0" anchor="ctr"/>
          <a:lstStyle/>
          <a:p>
            <a:pPr algn="ctr" indent="0" marL="0">
              <a:buNone/>
            </a:pPr>
            <a:r>
              <a:rPr lang="en-US" sz="1400" b="1" dirty="0">
                <a:solidFill>
                  <a:srgbClr val="333333"/>
                </a:solidFill>
              </a:rPr>
              <a:t>✓ Bots for empty seats</a:t>
            </a:r>
            <a:endParaRPr lang="en-US" sz="1400" dirty="0"/>
          </a:p>
        </p:txBody>
      </p:sp>
      <p:sp>
        <p:nvSpPr>
          <p:cNvPr id="23" name="sticky Play online with a link"/>
          <p:cNvSpPr/>
          <p:nvPr/>
        </p:nvSpPr>
        <p:spPr>
          <a:xfrm rot="-60000">
            <a:off x="4663440" y="3246120"/>
            <a:ext cx="1783080" cy="868680"/>
          </a:xfrm>
          <a:prstGeom prst="rect">
            <a:avLst/>
          </a:prstGeom>
          <a:solidFill>
            <a:srgbClr val="BFE6B0"/>
          </a:solidFill>
          <a:ln/>
          <a:effectLst>
            <a:outerShdw sx="100000" sy="100000" kx="0" ky="0" algn="bl" rotWithShape="0" blurRad="38100" dist="25400" dir="2700000">
              <a:srgbClr val="000000">
                <a:alpha val="20000"/>
              </a:srgbClr>
            </a:outerShdw>
          </a:effectLst>
        </p:spPr>
      </p:sp>
      <p:sp>
        <p:nvSpPr>
          <p:cNvPr id="24" name="sticky text Play online with a link"/>
          <p:cNvSpPr txBox="1"/>
          <p:nvPr/>
        </p:nvSpPr>
        <p:spPr>
          <a:xfrm rot="-60000">
            <a:off x="4754880" y="3291840"/>
            <a:ext cx="1600200" cy="777240"/>
          </a:xfrm>
          <a:prstGeom prst="rect">
            <a:avLst/>
          </a:prstGeom>
          <a:noFill/>
          <a:ln/>
        </p:spPr>
        <p:txBody>
          <a:bodyPr wrap="square" lIns="0" tIns="0" rIns="0" bIns="0" rtlCol="0" anchor="ctr"/>
          <a:lstStyle/>
          <a:p>
            <a:pPr algn="ctr" indent="0" marL="0">
              <a:buNone/>
            </a:pPr>
            <a:r>
              <a:rPr lang="en-US" sz="1400" b="1" dirty="0">
                <a:solidFill>
                  <a:srgbClr val="333333"/>
                </a:solidFill>
              </a:rPr>
              <a:t>✓ Play online with a link</a:t>
            </a:r>
            <a:endParaRPr lang="en-US" sz="1400" dirty="0"/>
          </a:p>
        </p:txBody>
      </p:sp>
      <p:sp>
        <p:nvSpPr>
          <p:cNvPr id="25" name="sticky Shorter game: 8 points"/>
          <p:cNvSpPr/>
          <p:nvPr/>
        </p:nvSpPr>
        <p:spPr>
          <a:xfrm rot="120000">
            <a:off x="6720840" y="3246120"/>
            <a:ext cx="1783080" cy="868680"/>
          </a:xfrm>
          <a:prstGeom prst="rect">
            <a:avLst/>
          </a:prstGeom>
          <a:solidFill>
            <a:srgbClr val="BFE6B0"/>
          </a:solidFill>
          <a:ln/>
          <a:effectLst>
            <a:outerShdw sx="100000" sy="100000" kx="0" ky="0" algn="bl" rotWithShape="0" blurRad="38100" dist="25400" dir="2700000">
              <a:srgbClr val="000000">
                <a:alpha val="20000"/>
              </a:srgbClr>
            </a:outerShdw>
          </a:effectLst>
        </p:spPr>
      </p:sp>
      <p:sp>
        <p:nvSpPr>
          <p:cNvPr id="26" name="sticky text Shorter game: 8 points"/>
          <p:cNvSpPr txBox="1"/>
          <p:nvPr/>
        </p:nvSpPr>
        <p:spPr>
          <a:xfrm rot="120000">
            <a:off x="6812280" y="3291840"/>
            <a:ext cx="1600200" cy="777240"/>
          </a:xfrm>
          <a:prstGeom prst="rect">
            <a:avLst/>
          </a:prstGeom>
          <a:noFill/>
          <a:ln/>
        </p:spPr>
        <p:txBody>
          <a:bodyPr wrap="square" lIns="0" tIns="0" rIns="0" bIns="0" rtlCol="0" anchor="ctr"/>
          <a:lstStyle/>
          <a:p>
            <a:pPr algn="ctr" indent="0" marL="0">
              <a:buNone/>
            </a:pPr>
            <a:r>
              <a:rPr lang="en-US" sz="1400" b="1" dirty="0">
                <a:solidFill>
                  <a:srgbClr val="333333"/>
                </a:solidFill>
              </a:rPr>
              <a:t>✓ Shorter game: 8 points</a:t>
            </a:r>
            <a:endParaRPr lang="en-US" sz="1400" dirty="0"/>
          </a:p>
        </p:txBody>
      </p:sp>
      <p:sp>
        <p:nvSpPr>
          <p:cNvPr id="27" name="brainstorm caption"/>
          <p:cNvSpPr txBox="1"/>
          <p:nvPr/>
        </p:nvSpPr>
        <p:spPr>
          <a:xfrm>
            <a:off x="457200" y="4434840"/>
            <a:ext cx="8229600" cy="365760"/>
          </a:xfrm>
          <a:prstGeom prst="rect">
            <a:avLst/>
          </a:prstGeom>
          <a:noFill/>
          <a:ln/>
        </p:spPr>
        <p:txBody>
          <a:bodyPr wrap="square" lIns="0" tIns="0" rIns="0" bIns="0" rtlCol="0" anchor="ctr"/>
          <a:lstStyle/>
          <a:p>
            <a:pPr indent="0" marL="0">
              <a:buNone/>
            </a:pPr>
            <a:r>
              <a:rPr lang="en-US" sz="1200" i="1" dirty="0">
                <a:solidFill>
                  <a:schemeClr val="accent5"/>
                </a:solidFill>
              </a:rPr>
              <a:t>Yellow: themes. Pink: the twist. Green: ways to make it easier. Then everyone got three votes.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Picking a theme</a:t>
            </a:r>
            <a:endParaRPr lang="en-US" sz="3200" dirty="0"/>
          </a:p>
        </p:txBody>
      </p:sp>
      <p:graphicFrame>
        <p:nvGraphicFramePr>
          <p:cNvPr id="6" name="decision matrix"/>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03120"/>
                <a:gridCol w="1234440"/>
                <a:gridCol w="1325880"/>
                <a:gridCol w="1325880"/>
                <a:gridCol w="1143000"/>
                <a:gridCol w="1097280"/>
              </a:tblGrid>
              <a:tr h="411480">
                <a:tc>
                  <a:txBody>
                    <a:bodyPr/>
                    <a:lstStyle/>
                    <a:p>
                      <a:pPr algn="ctr" indent="0" marL="0">
                        <a:buNone/>
                      </a:pPr>
                      <a:r>
                        <a:rPr lang="en-US" sz="1400" b="1" dirty="0">
                          <a:solidFill>
                            <a:schemeClr val="bg1"/>
                          </a:solidFill>
                        </a:rPr>
                        <a:t>Theme</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Fun (30%)</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Easy to learn (30%)</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Fits pixel art (20%)</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Original (20%)</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Score</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chemeClr val="tx2"/>
                    </a:solidFill>
                  </a:tcPr>
                </a:tc>
              </a:tr>
              <a:tr h="411480">
                <a:tc>
                  <a:txBody>
                    <a:bodyPr/>
                    <a:lstStyle/>
                    <a:p>
                      <a:pPr indent="0" marL="0">
                        <a:buNone/>
                      </a:pPr>
                      <a:r>
                        <a:rPr lang="en-US" sz="1400" dirty="0">
                          <a:solidFill>
                            <a:schemeClr val="tx1"/>
                          </a:solidFill>
                        </a:rPr>
                        <a:t>Medieval kingdom</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4</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4</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5</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2</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b="1" dirty="0">
                          <a:solidFill>
                            <a:schemeClr val="tx1"/>
                          </a:solidFill>
                        </a:rPr>
                        <a:t>3.8</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r>
              <a:tr h="411480">
                <a:tc>
                  <a:txBody>
                    <a:bodyPr/>
                    <a:lstStyle/>
                    <a:p>
                      <a:pPr indent="0" marL="0">
                        <a:buNone/>
                      </a:pPr>
                      <a:r>
                        <a:rPr lang="en-US" sz="1400" dirty="0">
                          <a:solidFill>
                            <a:schemeClr val="tx1"/>
                          </a:solidFill>
                        </a:rPr>
                        <a:t>Wasteland rebuild</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4</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3</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4</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3</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b="1" dirty="0">
                          <a:solidFill>
                            <a:schemeClr val="tx1"/>
                          </a:solidFill>
                        </a:rPr>
                        <a:t>3.5</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r>
              <a:tr h="411480">
                <a:tc>
                  <a:txBody>
                    <a:bodyPr/>
                    <a:lstStyle/>
                    <a:p>
                      <a:pPr indent="0" marL="0">
                        <a:buNone/>
                      </a:pPr>
                      <a:r>
                        <a:rPr lang="en-US" sz="1400" dirty="0">
                          <a:solidFill>
                            <a:schemeClr val="tx1"/>
                          </a:solidFill>
                        </a:rPr>
                        <a:t>Power grid tycoon</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3</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3</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3</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dirty="0">
                          <a:solidFill>
                            <a:schemeClr val="tx1"/>
                          </a:solidFill>
                        </a:rPr>
                        <a:t>4</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algn="ctr" indent="0" marL="0">
                        <a:buNone/>
                      </a:pPr>
                      <a:r>
                        <a:rPr lang="en-US" sz="1400" b="1" dirty="0">
                          <a:solidFill>
                            <a:schemeClr val="tx1"/>
                          </a:solidFill>
                        </a:rPr>
                        <a:t>3.2</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r>
              <a:tr h="411480">
                <a:tc>
                  <a:txBody>
                    <a:bodyPr/>
                    <a:lstStyle/>
                    <a:p>
                      <a:pPr indent="0" marL="0">
                        <a:buNone/>
                      </a:pPr>
                      <a:r>
                        <a:rPr lang="en-US" sz="1400" b="1" dirty="0">
                          <a:solidFill>
                            <a:schemeClr val="tx1"/>
                          </a:solidFill>
                        </a:rPr>
                        <a:t>Atomic Age 1950s</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rgbClr val="DDF0D6"/>
                    </a:solidFill>
                  </a:tcPr>
                </a:tc>
                <a:tc>
                  <a:txBody>
                    <a:bodyPr/>
                    <a:lstStyle/>
                    <a:p>
                      <a:pPr algn="ctr" indent="0" marL="0">
                        <a:buNone/>
                      </a:pPr>
                      <a:r>
                        <a:rPr lang="en-US" sz="1400" dirty="0">
                          <a:solidFill>
                            <a:schemeClr val="tx1"/>
                          </a:solidFill>
                        </a:rPr>
                        <a:t>5</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rgbClr val="DDF0D6"/>
                    </a:solidFill>
                  </a:tcPr>
                </a:tc>
                <a:tc>
                  <a:txBody>
                    <a:bodyPr/>
                    <a:lstStyle/>
                    <a:p>
                      <a:pPr algn="ctr" indent="0" marL="0">
                        <a:buNone/>
                      </a:pPr>
                      <a:r>
                        <a:rPr lang="en-US" sz="1400" dirty="0">
                          <a:solidFill>
                            <a:schemeClr val="tx1"/>
                          </a:solidFill>
                        </a:rPr>
                        <a:t>4</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rgbClr val="DDF0D6"/>
                    </a:solidFill>
                  </a:tcPr>
                </a:tc>
                <a:tc>
                  <a:txBody>
                    <a:bodyPr/>
                    <a:lstStyle/>
                    <a:p>
                      <a:pPr algn="ctr" indent="0" marL="0">
                        <a:buNone/>
                      </a:pPr>
                      <a:r>
                        <a:rPr lang="en-US" sz="1400" dirty="0">
                          <a:solidFill>
                            <a:schemeClr val="tx1"/>
                          </a:solidFill>
                        </a:rPr>
                        <a:t>5</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rgbClr val="DDF0D6"/>
                    </a:solidFill>
                  </a:tcPr>
                </a:tc>
                <a:tc>
                  <a:txBody>
                    <a:bodyPr/>
                    <a:lstStyle/>
                    <a:p>
                      <a:pPr algn="ctr" indent="0" marL="0">
                        <a:buNone/>
                      </a:pPr>
                      <a:r>
                        <a:rPr lang="en-US" sz="1400" dirty="0">
                          <a:solidFill>
                            <a:schemeClr val="tx1"/>
                          </a:solidFill>
                        </a:rPr>
                        <a:t>5</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rgbClr val="DDF0D6"/>
                    </a:solidFill>
                  </a:tcPr>
                </a:tc>
                <a:tc>
                  <a:txBody>
                    <a:bodyPr/>
                    <a:lstStyle/>
                    <a:p>
                      <a:pPr algn="ctr" indent="0" marL="0">
                        <a:buNone/>
                      </a:pPr>
                      <a:r>
                        <a:rPr lang="en-US" sz="1400" b="1" dirty="0">
                          <a:solidFill>
                            <a:schemeClr val="tx1"/>
                          </a:solidFill>
                        </a:rPr>
                        <a:t>4.7</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rgbClr val="DDF0D6"/>
                    </a:solidFill>
                  </a:tcPr>
                </a:tc>
              </a:tr>
            </a:tbl>
          </a:graphicData>
        </a:graphic>
      </p:graphicFrame>
      <p:sp>
        <p:nvSpPr>
          <p:cNvPr id="4" name="matrix caption"/>
          <p:cNvSpPr txBox="1"/>
          <p:nvPr/>
        </p:nvSpPr>
        <p:spPr>
          <a:xfrm>
            <a:off x="457200" y="3520440"/>
            <a:ext cx="8229600" cy="365760"/>
          </a:xfrm>
          <a:prstGeom prst="rect">
            <a:avLst/>
          </a:prstGeom>
          <a:noFill/>
          <a:ln/>
        </p:spPr>
        <p:txBody>
          <a:bodyPr wrap="square" lIns="0" tIns="0" rIns="0" bIns="0" rtlCol="0" anchor="ctr"/>
          <a:lstStyle/>
          <a:p>
            <a:pPr indent="0" marL="0">
              <a:buNone/>
            </a:pPr>
            <a:r>
              <a:rPr lang="en-US" sz="1400" dirty="0">
                <a:solidFill>
                  <a:schemeClr val="tx1"/>
                </a:solidFill>
              </a:rPr>
              <a:t>Scores out of 5, weighted. Atomic Age won on fun and originality, and it gave us uranium.</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Objectives, constraints, functions</a:t>
            </a:r>
            <a:endParaRPr lang="en-US" sz="3200" dirty="0"/>
          </a:p>
        </p:txBody>
      </p:sp>
      <p:sp>
        <p:nvSpPr>
          <p:cNvPr id="3" name="Objectives column"/>
          <p:cNvSpPr/>
          <p:nvPr/>
        </p:nvSpPr>
        <p:spPr>
          <a:xfrm>
            <a:off x="457200" y="1143000"/>
            <a:ext cx="2606040" cy="3383280"/>
          </a:xfrm>
          <a:prstGeom prst="rect">
            <a:avLst/>
          </a:prstGeom>
          <a:solidFill>
            <a:schemeClr val="bg2"/>
          </a:solidFill>
          <a:ln/>
        </p:spPr>
      </p:sp>
      <p:sp>
        <p:nvSpPr>
          <p:cNvPr id="4" name="Objectives heading"/>
          <p:cNvSpPr txBox="1"/>
          <p:nvPr/>
        </p:nvSpPr>
        <p:spPr>
          <a:xfrm>
            <a:off x="640080" y="1280160"/>
            <a:ext cx="2240280" cy="411480"/>
          </a:xfrm>
          <a:prstGeom prst="rect">
            <a:avLst/>
          </a:prstGeom>
          <a:noFill/>
          <a:ln/>
        </p:spPr>
        <p:txBody>
          <a:bodyPr wrap="square" lIns="0" tIns="0" rIns="0" bIns="0" rtlCol="0" anchor="ctr"/>
          <a:lstStyle/>
          <a:p>
            <a:pPr indent="0" marL="0">
              <a:buNone/>
            </a:pPr>
            <a:r>
              <a:rPr lang="en-US" sz="2200" b="1" dirty="0">
                <a:solidFill>
                  <a:schemeClr val="accent1"/>
                </a:solidFill>
              </a:rPr>
              <a:t>Objectives</a:t>
            </a:r>
            <a:endParaRPr lang="en-US" sz="2200" dirty="0"/>
          </a:p>
        </p:txBody>
      </p:sp>
      <p:sp>
        <p:nvSpPr>
          <p:cNvPr id="5" name="Objectives sub"/>
          <p:cNvSpPr txBox="1"/>
          <p:nvPr/>
        </p:nvSpPr>
        <p:spPr>
          <a:xfrm>
            <a:off x="640080" y="1691640"/>
            <a:ext cx="2240280" cy="274320"/>
          </a:xfrm>
          <a:prstGeom prst="rect">
            <a:avLst/>
          </a:prstGeom>
          <a:noFill/>
          <a:ln/>
        </p:spPr>
        <p:txBody>
          <a:bodyPr wrap="square" lIns="0" tIns="0" rIns="0" bIns="0" rtlCol="0" anchor="ctr"/>
          <a:lstStyle/>
          <a:p>
            <a:pPr indent="0" marL="0">
              <a:buNone/>
            </a:pPr>
            <a:r>
              <a:rPr lang="en-US" sz="1200" i="1" dirty="0">
                <a:solidFill>
                  <a:schemeClr val="accent5"/>
                </a:solidFill>
              </a:rPr>
              <a:t>What we wanted</a:t>
            </a:r>
            <a:endParaRPr lang="en-US" sz="1200" dirty="0"/>
          </a:p>
        </p:txBody>
      </p:sp>
      <p:sp>
        <p:nvSpPr>
          <p:cNvPr id="6" name="Objectives list"/>
          <p:cNvSpPr txBox="1"/>
          <p:nvPr/>
        </p:nvSpPr>
        <p:spPr>
          <a:xfrm>
            <a:off x="640080" y="2103120"/>
            <a:ext cx="228600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Easy for a first-timer</a:t>
            </a:r>
            <a:endParaRPr lang="en-US" sz="1500" dirty="0"/>
          </a:p>
          <a:p>
            <a:pPr marL="342900" indent="-342900">
              <a:spcAft>
                <a:spcPts val="800"/>
              </a:spcAft>
              <a:buSzPct val="100000"/>
              <a:buChar char="•"/>
            </a:pPr>
            <a:r>
              <a:rPr lang="en-US" sz="1500" dirty="0">
                <a:solidFill>
                  <a:schemeClr val="tx1"/>
                </a:solidFill>
              </a:rPr>
              <a:t>Games around 20 to 25 min</a:t>
            </a:r>
            <a:endParaRPr lang="en-US" sz="1500" dirty="0"/>
          </a:p>
          <a:p>
            <a:pPr marL="342900" indent="-342900">
              <a:spcAft>
                <a:spcPts val="800"/>
              </a:spcAft>
              <a:buSzPct val="100000"/>
              <a:buChar char="•"/>
            </a:pPr>
            <a:r>
              <a:rPr lang="en-US" sz="1500" dirty="0">
                <a:solidFill>
                  <a:schemeClr val="tx1"/>
                </a:solidFill>
              </a:rPr>
              <a:t>Fun to replay</a:t>
            </a:r>
            <a:endParaRPr lang="en-US" sz="1500" dirty="0"/>
          </a:p>
          <a:p>
            <a:pPr marL="342900" indent="-342900">
              <a:spcAft>
                <a:spcPts val="800"/>
              </a:spcAft>
              <a:buSzPct val="100000"/>
              <a:buChar char="•"/>
            </a:pPr>
            <a:r>
              <a:rPr lang="en-US" sz="1500" dirty="0">
                <a:solidFill>
                  <a:schemeClr val="tx1"/>
                </a:solidFill>
              </a:rPr>
              <a:t>Looks good</a:t>
            </a:r>
            <a:endParaRPr lang="en-US" sz="1500" dirty="0"/>
          </a:p>
        </p:txBody>
      </p:sp>
      <p:sp>
        <p:nvSpPr>
          <p:cNvPr id="7" name="Constraints column"/>
          <p:cNvSpPr/>
          <p:nvPr/>
        </p:nvSpPr>
        <p:spPr>
          <a:xfrm>
            <a:off x="3246120" y="1143000"/>
            <a:ext cx="2606040" cy="3383280"/>
          </a:xfrm>
          <a:prstGeom prst="rect">
            <a:avLst/>
          </a:prstGeom>
          <a:solidFill>
            <a:schemeClr val="bg2"/>
          </a:solidFill>
          <a:ln/>
        </p:spPr>
      </p:sp>
      <p:sp>
        <p:nvSpPr>
          <p:cNvPr id="8" name="Constraints heading"/>
          <p:cNvSpPr txBox="1"/>
          <p:nvPr/>
        </p:nvSpPr>
        <p:spPr>
          <a:xfrm>
            <a:off x="3429000" y="1280160"/>
            <a:ext cx="2240280" cy="411480"/>
          </a:xfrm>
          <a:prstGeom prst="rect">
            <a:avLst/>
          </a:prstGeom>
          <a:noFill/>
          <a:ln/>
        </p:spPr>
        <p:txBody>
          <a:bodyPr wrap="square" lIns="0" tIns="0" rIns="0" bIns="0" rtlCol="0" anchor="ctr"/>
          <a:lstStyle/>
          <a:p>
            <a:pPr indent="0" marL="0">
              <a:buNone/>
            </a:pPr>
            <a:r>
              <a:rPr lang="en-US" sz="2200" b="1" dirty="0">
                <a:solidFill>
                  <a:schemeClr val="accent3"/>
                </a:solidFill>
              </a:rPr>
              <a:t>Constraints</a:t>
            </a:r>
            <a:endParaRPr lang="en-US" sz="2200" dirty="0"/>
          </a:p>
        </p:txBody>
      </p:sp>
      <p:sp>
        <p:nvSpPr>
          <p:cNvPr id="9" name="Constraints sub"/>
          <p:cNvSpPr txBox="1"/>
          <p:nvPr/>
        </p:nvSpPr>
        <p:spPr>
          <a:xfrm>
            <a:off x="3429000" y="1691640"/>
            <a:ext cx="2240280" cy="274320"/>
          </a:xfrm>
          <a:prstGeom prst="rect">
            <a:avLst/>
          </a:prstGeom>
          <a:noFill/>
          <a:ln/>
        </p:spPr>
        <p:txBody>
          <a:bodyPr wrap="square" lIns="0" tIns="0" rIns="0" bIns="0" rtlCol="0" anchor="ctr"/>
          <a:lstStyle/>
          <a:p>
            <a:pPr indent="0" marL="0">
              <a:buNone/>
            </a:pPr>
            <a:r>
              <a:rPr lang="en-US" sz="1200" i="1" dirty="0">
                <a:solidFill>
                  <a:schemeClr val="accent5"/>
                </a:solidFill>
              </a:rPr>
              <a:t>What we had to stick to</a:t>
            </a:r>
            <a:endParaRPr lang="en-US" sz="1200" dirty="0"/>
          </a:p>
        </p:txBody>
      </p:sp>
      <p:sp>
        <p:nvSpPr>
          <p:cNvPr id="10" name="Constraints list"/>
          <p:cNvSpPr txBox="1"/>
          <p:nvPr/>
        </p:nvSpPr>
        <p:spPr>
          <a:xfrm>
            <a:off x="3429000" y="2103120"/>
            <a:ext cx="228600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Python + pygame</a:t>
            </a:r>
            <a:endParaRPr lang="en-US" sz="1500" dirty="0"/>
          </a:p>
          <a:p>
            <a:pPr marL="342900" indent="-342900">
              <a:spcAft>
                <a:spcPts val="800"/>
              </a:spcAft>
              <a:buSzPct val="100000"/>
              <a:buChar char="•"/>
            </a:pPr>
            <a:r>
              <a:rPr lang="en-US" sz="1500" dirty="0">
                <a:solidFill>
                  <a:schemeClr val="tx1"/>
                </a:solidFill>
              </a:rPr>
              <a:t>Runs in a browser, no install</a:t>
            </a:r>
            <a:endParaRPr lang="en-US" sz="1500" dirty="0"/>
          </a:p>
          <a:p>
            <a:pPr marL="342900" indent="-342900">
              <a:spcAft>
                <a:spcPts val="800"/>
              </a:spcAft>
              <a:buSzPct val="100000"/>
              <a:buChar char="•"/>
            </a:pPr>
            <a:r>
              <a:rPr lang="en-US" sz="1500" dirty="0">
                <a:solidFill>
                  <a:schemeClr val="tx1"/>
                </a:solidFill>
              </a:rPr>
              <a:t>2 to 4 players</a:t>
            </a:r>
            <a:endParaRPr lang="en-US" sz="1500" dirty="0"/>
          </a:p>
          <a:p>
            <a:pPr marL="342900" indent="-342900">
              <a:spcAft>
                <a:spcPts val="800"/>
              </a:spcAft>
              <a:buSzPct val="100000"/>
              <a:buChar char="•"/>
            </a:pPr>
            <a:r>
              <a:rPr lang="en-US" sz="1500" dirty="0">
                <a:solidFill>
                  <a:schemeClr val="tx1"/>
                </a:solidFill>
              </a:rPr>
              <a:t>Free: no servers to pay for</a:t>
            </a:r>
            <a:endParaRPr lang="en-US" sz="1500" dirty="0"/>
          </a:p>
        </p:txBody>
      </p:sp>
      <p:sp>
        <p:nvSpPr>
          <p:cNvPr id="11" name="Functions column"/>
          <p:cNvSpPr/>
          <p:nvPr/>
        </p:nvSpPr>
        <p:spPr>
          <a:xfrm>
            <a:off x="6035040" y="1143000"/>
            <a:ext cx="2606040" cy="3383280"/>
          </a:xfrm>
          <a:prstGeom prst="rect">
            <a:avLst/>
          </a:prstGeom>
          <a:solidFill>
            <a:schemeClr val="bg2"/>
          </a:solidFill>
          <a:ln/>
        </p:spPr>
      </p:sp>
      <p:sp>
        <p:nvSpPr>
          <p:cNvPr id="12" name="Functions heading"/>
          <p:cNvSpPr txBox="1"/>
          <p:nvPr/>
        </p:nvSpPr>
        <p:spPr>
          <a:xfrm>
            <a:off x="6217920" y="1280160"/>
            <a:ext cx="2240280" cy="411480"/>
          </a:xfrm>
          <a:prstGeom prst="rect">
            <a:avLst/>
          </a:prstGeom>
          <a:noFill/>
          <a:ln/>
        </p:spPr>
        <p:txBody>
          <a:bodyPr wrap="square" lIns="0" tIns="0" rIns="0" bIns="0" rtlCol="0" anchor="ctr"/>
          <a:lstStyle/>
          <a:p>
            <a:pPr indent="0" marL="0">
              <a:buNone/>
            </a:pPr>
            <a:r>
              <a:rPr lang="en-US" sz="2200" b="1" dirty="0">
                <a:solidFill>
                  <a:schemeClr val="accent4"/>
                </a:solidFill>
              </a:rPr>
              <a:t>Functions</a:t>
            </a:r>
            <a:endParaRPr lang="en-US" sz="2200" dirty="0"/>
          </a:p>
        </p:txBody>
      </p:sp>
      <p:sp>
        <p:nvSpPr>
          <p:cNvPr id="13" name="Functions sub"/>
          <p:cNvSpPr txBox="1"/>
          <p:nvPr/>
        </p:nvSpPr>
        <p:spPr>
          <a:xfrm>
            <a:off x="6217920" y="1691640"/>
            <a:ext cx="2240280" cy="274320"/>
          </a:xfrm>
          <a:prstGeom prst="rect">
            <a:avLst/>
          </a:prstGeom>
          <a:noFill/>
          <a:ln/>
        </p:spPr>
        <p:txBody>
          <a:bodyPr wrap="square" lIns="0" tIns="0" rIns="0" bIns="0" rtlCol="0" anchor="ctr"/>
          <a:lstStyle/>
          <a:p>
            <a:pPr indent="0" marL="0">
              <a:buNone/>
            </a:pPr>
            <a:r>
              <a:rPr lang="en-US" sz="1200" i="1" dirty="0">
                <a:solidFill>
                  <a:schemeClr val="accent5"/>
                </a:solidFill>
              </a:rPr>
              <a:t>What it has to do</a:t>
            </a:r>
            <a:endParaRPr lang="en-US" sz="1200" dirty="0"/>
          </a:p>
        </p:txBody>
      </p:sp>
      <p:sp>
        <p:nvSpPr>
          <p:cNvPr id="14" name="Functions list"/>
          <p:cNvSpPr txBox="1"/>
          <p:nvPr/>
        </p:nvSpPr>
        <p:spPr>
          <a:xfrm>
            <a:off x="6217920" y="2103120"/>
            <a:ext cx="2286000" cy="2286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New random board each game</a:t>
            </a:r>
            <a:endParaRPr lang="en-US" sz="1500" dirty="0"/>
          </a:p>
          <a:p>
            <a:pPr marL="342900" indent="-342900">
              <a:spcAft>
                <a:spcPts val="800"/>
              </a:spcAft>
              <a:buSzPct val="100000"/>
              <a:buChar char="•"/>
            </a:pPr>
            <a:r>
              <a:rPr lang="en-US" sz="1500" dirty="0">
                <a:solidFill>
                  <a:schemeClr val="tx1"/>
                </a:solidFill>
              </a:rPr>
              <a:t>Roll dice and pay out</a:t>
            </a:r>
            <a:endParaRPr lang="en-US" sz="1500" dirty="0"/>
          </a:p>
          <a:p>
            <a:pPr marL="342900" indent="-342900">
              <a:spcAft>
                <a:spcPts val="800"/>
              </a:spcAft>
              <a:buSzPct val="100000"/>
              <a:buChar char="•"/>
            </a:pPr>
            <a:r>
              <a:rPr lang="en-US" sz="1500" dirty="0">
                <a:solidFill>
                  <a:schemeClr val="tx1"/>
                </a:solidFill>
              </a:rPr>
              <a:t>Check every rule</a:t>
            </a:r>
            <a:endParaRPr lang="en-US" sz="1500" dirty="0"/>
          </a:p>
          <a:p>
            <a:pPr marL="342900" indent="-342900">
              <a:spcAft>
                <a:spcPts val="800"/>
              </a:spcAft>
              <a:buSzPct val="100000"/>
              <a:buChar char="•"/>
            </a:pPr>
            <a:r>
              <a:rPr lang="en-US" sz="1500" dirty="0">
                <a:solidFill>
                  <a:schemeClr val="tx1"/>
                </a:solidFill>
              </a:rPr>
              <a:t>Bots and online play</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What we changed from Catan</a:t>
            </a:r>
            <a:endParaRPr lang="en-US" sz="3200" dirty="0"/>
          </a:p>
        </p:txBody>
      </p:sp>
      <p:graphicFrame>
        <p:nvGraphicFramePr>
          <p:cNvPr id="8" name="catan vs isotopia"/>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377440"/>
                <a:gridCol w="3200400"/>
                <a:gridCol w="2651760"/>
              </a:tblGrid>
              <a:tr h="429768">
                <a:tc>
                  <a:txBody>
                    <a:bodyPr/>
                    <a:lstStyle/>
                    <a:p>
                      <a:pPr algn="ctr" indent="0" marL="0">
                        <a:buNone/>
                      </a:pPr>
                      <a:r>
                        <a:rPr lang="en-US" sz="1400" b="1" dirty="0">
                          <a:solidFill>
                            <a:schemeClr val="bg1"/>
                          </a:solidFill>
                        </a:rPr>
                        <a:t>Catan</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Isotopia</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Why</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solidFill>
                      <a:schemeClr val="tx2"/>
                    </a:solidFill>
                  </a:tcPr>
                </a:tc>
              </a:tr>
              <a:tr h="429768">
                <a:tc>
                  <a:txBody>
                    <a:bodyPr/>
                    <a:lstStyle/>
                    <a:p>
                      <a:pPr indent="0" marL="0">
                        <a:buNone/>
                      </a:pPr>
                      <a:r>
                        <a:rPr lang="en-US" sz="1400" dirty="0">
                          <a:solidFill>
                            <a:schemeClr val="tx1"/>
                          </a:solidFill>
                        </a:rPr>
                        <a:t>10 points to win</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b="1" dirty="0">
                          <a:solidFill>
                            <a:schemeClr val="tx1"/>
                          </a:solidFill>
                        </a:rPr>
                        <a:t>8 points to win</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dirty="0">
                          <a:solidFill>
                            <a:schemeClr val="accent5"/>
                          </a:solidFill>
                        </a:rPr>
                        <a:t>Shorter games</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r>
              <a:tr h="429768">
                <a:tc>
                  <a:txBody>
                    <a:bodyPr/>
                    <a:lstStyle/>
                    <a:p>
                      <a:pPr indent="0" marL="0">
                        <a:buNone/>
                      </a:pPr>
                      <a:r>
                        <a:rPr lang="en-US" sz="1400" dirty="0">
                          <a:solidFill>
                            <a:schemeClr val="tx1"/>
                          </a:solidFill>
                        </a:rPr>
                        <a:t>5 resources</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b="1" dirty="0">
                          <a:solidFill>
                            <a:schemeClr val="tx1"/>
                          </a:solidFill>
                        </a:rPr>
                        <a:t>4 resources + Uranium</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dirty="0">
                          <a:solidFill>
                            <a:schemeClr val="accent5"/>
                          </a:solidFill>
                        </a:rPr>
                        <a:t>Uranium is rare: only 2 mines</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r>
              <a:tr h="429768">
                <a:tc>
                  <a:txBody>
                    <a:bodyPr/>
                    <a:lstStyle/>
                    <a:p>
                      <a:pPr indent="0" marL="0">
                        <a:buNone/>
                      </a:pPr>
                      <a:r>
                        <a:rPr lang="en-US" sz="1400" dirty="0">
                          <a:solidFill>
                            <a:schemeClr val="tx1"/>
                          </a:solidFill>
                        </a:rPr>
                        <a:t>The robber</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b="1" dirty="0">
                          <a:solidFill>
                            <a:schemeClr val="tx1"/>
                          </a:solidFill>
                        </a:rPr>
                        <a:t>A radiation cloud</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dirty="0">
                          <a:solidFill>
                            <a:schemeClr val="accent5"/>
                          </a:solidFill>
                        </a:rPr>
                        <a:t>Same rule, fits the theme</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r>
              <a:tr h="429768">
                <a:tc>
                  <a:txBody>
                    <a:bodyPr/>
                    <a:lstStyle/>
                    <a:p>
                      <a:pPr indent="0" marL="0">
                        <a:buNone/>
                      </a:pPr>
                      <a:r>
                        <a:rPr lang="en-US" sz="1400" dirty="0">
                          <a:solidFill>
                            <a:schemeClr val="tx1"/>
                          </a:solidFill>
                        </a:rPr>
                        <a:t>Development cards</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b="1" dirty="0">
                          <a:solidFill>
                            <a:schemeClr val="tx1"/>
                          </a:solidFill>
                        </a:rPr>
                        <a:t>Cut</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dirty="0">
                          <a:solidFill>
                            <a:schemeClr val="accent5"/>
                          </a:solidFill>
                        </a:rPr>
                        <a:t>Less to explain</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r>
              <a:tr h="429768">
                <a:tc>
                  <a:txBody>
                    <a:bodyPr/>
                    <a:lstStyle/>
                    <a:p>
                      <a:pPr indent="0" marL="0">
                        <a:buNone/>
                      </a:pPr>
                      <a:r>
                        <a:rPr lang="en-US" sz="1400" dirty="0">
                          <a:solidFill>
                            <a:schemeClr val="tx1"/>
                          </a:solidFill>
                        </a:rPr>
                        <a:t>Nothing like it</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b="1" dirty="0">
                          <a:solidFill>
                            <a:schemeClr val="tx1"/>
                          </a:solidFill>
                        </a:rPr>
                        <a:t>The Bomb: 5 Uranium wipes out a land</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dirty="0">
                          <a:solidFill>
                            <a:schemeClr val="accent5"/>
                          </a:solidFill>
                        </a:rPr>
                        <a:t>Big moments, one per player</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r>
              <a:tr h="429768">
                <a:tc>
                  <a:txBody>
                    <a:bodyPr/>
                    <a:lstStyle/>
                    <a:p>
                      <a:pPr indent="0" marL="0">
                        <a:buNone/>
                      </a:pPr>
                      <a:r>
                        <a:rPr lang="en-US" sz="1400" dirty="0">
                          <a:solidFill>
                            <a:schemeClr val="tx1"/>
                          </a:solidFill>
                        </a:rPr>
                        <a:t>Nothing like it</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b="1" dirty="0">
                          <a:solidFill>
                            <a:schemeClr val="tx1"/>
                          </a:solidFill>
                        </a:rPr>
                        <a:t>Fallout shelter</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c>
                  <a:txBody>
                    <a:bodyPr/>
                    <a:lstStyle/>
                    <a:p>
                      <a:pPr indent="0" marL="0">
                        <a:buNone/>
                      </a:pPr>
                      <a:r>
                        <a:rPr lang="en-US" sz="1400" dirty="0">
                          <a:solidFill>
                            <a:schemeClr val="accent5"/>
                          </a:solidFill>
                        </a:rPr>
                        <a:t>A way to defend yourself</a:t>
                      </a:r>
                      <a:endParaRPr lang="en-US" sz="1400" dirty="0"/>
                    </a:p>
                  </a:txBody>
                  <a:tcPr marL="91440" marR="91440" marT="45720" marB="45720">
                    <a:lnL w="9525" cap="flat" cmpd="sng" algn="ctr">
                      <a:solidFill>
                        <a:srgbClr val="C9CFDC"/>
                      </a:solidFill>
                      <a:prstDash val="solid"/>
                      <a:round/>
                      <a:headEnd type="none" w="med" len="med"/>
                      <a:tailEnd type="none" w="med" len="med"/>
                    </a:lnL>
                    <a:lnR w="9525" cap="flat" cmpd="sng" algn="ctr">
                      <a:solidFill>
                        <a:srgbClr val="C9CFDC"/>
                      </a:solidFill>
                      <a:prstDash val="solid"/>
                      <a:round/>
                      <a:headEnd type="none" w="med" len="med"/>
                      <a:tailEnd type="none" w="med" len="med"/>
                    </a:lnR>
                    <a:lnT w="9525" cap="flat" cmpd="sng" algn="ctr">
                      <a:solidFill>
                        <a:srgbClr val="C9CFDC"/>
                      </a:solidFill>
                      <a:prstDash val="solid"/>
                      <a:round/>
                      <a:headEnd type="none" w="med" len="med"/>
                      <a:tailEnd type="none" w="med" len="med"/>
                    </a:lnT>
                    <a:lnB w="9525" cap="flat" cmpd="sng" algn="ctr">
                      <a:solidFill>
                        <a:srgbClr val="C9CFD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Version 1 to version 2</a:t>
            </a:r>
            <a:endParaRPr lang="en-US" sz="3200" dirty="0"/>
          </a:p>
        </p:txBody>
      </p:sp>
      <p:sp>
        <p:nvSpPr>
          <p:cNvPr id="3" name="v1 heading"/>
          <p:cNvSpPr txBox="1"/>
          <p:nvPr/>
        </p:nvSpPr>
        <p:spPr>
          <a:xfrm>
            <a:off x="457200" y="1097280"/>
            <a:ext cx="3840480" cy="365760"/>
          </a:xfrm>
          <a:prstGeom prst="rect">
            <a:avLst/>
          </a:prstGeom>
          <a:noFill/>
          <a:ln/>
        </p:spPr>
        <p:txBody>
          <a:bodyPr wrap="square" lIns="0" tIns="0" rIns="0" bIns="0" rtlCol="0" anchor="ctr"/>
          <a:lstStyle/>
          <a:p>
            <a:pPr indent="0" marL="0">
              <a:buNone/>
            </a:pPr>
            <a:r>
              <a:rPr lang="en-US" sz="1800" b="1" dirty="0">
                <a:solidFill>
                  <a:schemeClr val="tx2"/>
                </a:solidFill>
              </a:rPr>
              <a:t>Morning: version 1</a:t>
            </a:r>
            <a:endParaRPr lang="en-US" sz="1800" dirty="0"/>
          </a:p>
        </p:txBody>
      </p:sp>
      <p:sp>
        <p:nvSpPr>
          <p:cNvPr id="4" name="v1 dice code"/>
          <p:cNvSpPr txBox="1"/>
          <p:nvPr/>
        </p:nvSpPr>
        <p:spPr>
          <a:xfrm>
            <a:off x="457200" y="1554480"/>
            <a:ext cx="3840480" cy="1143000"/>
          </a:xfrm>
          <a:prstGeom prst="rect">
            <a:avLst/>
          </a:prstGeom>
          <a:solidFill>
            <a:srgbClr val="22283A"/>
          </a:solidFill>
          <a:ln/>
        </p:spPr>
        <p:txBody>
          <a:bodyPr wrap="square" lIns="101600" tIns="101600" rIns="101600" bIns="101600" rtlCol="0" anchor="t"/>
          <a:lstStyle/>
          <a:p>
            <a:pPr indent="0" marL="0">
              <a:buNone/>
            </a:pPr>
            <a:r>
              <a:rPr lang="en-US" sz="1200" dirty="0">
                <a:solidFill>
                  <a:srgbClr val="E8ECF6"/>
                </a:solidFill>
                <a:latin typeface="Courier New" pitchFamily="34" charset="0"/>
                <a:ea typeface="Courier New" pitchFamily="34" charset="-122"/>
                <a:cs typeface="Courier New" pitchFamily="34" charset="-120"/>
              </a:rPr>
              <a:t>def roll_two_die():</a:t>
            </a:r>
            <a:endParaRPr lang="en-US" sz="1200" dirty="0"/>
          </a:p>
          <a:p>
            <a:pPr indent="0" marL="0">
              <a:buNone/>
            </a:pPr>
            <a:r>
              <a:rPr lang="en-US" sz="1200" dirty="0">
                <a:solidFill>
                  <a:srgbClr val="E8ECF6"/>
                </a:solidFill>
                <a:latin typeface="Courier New" pitchFamily="34" charset="0"/>
                <a:ea typeface="Courier New" pitchFamily="34" charset="-122"/>
                <a:cs typeface="Courier New" pitchFamily="34" charset="-120"/>
              </a:rPr>
              <a:t>    dice_1 = random.randint(1, 6)</a:t>
            </a:r>
            <a:endParaRPr lang="en-US" sz="1200" dirty="0"/>
          </a:p>
          <a:p>
            <a:pPr indent="0" marL="0">
              <a:buNone/>
            </a:pPr>
            <a:r>
              <a:rPr lang="en-US" sz="1200" dirty="0">
                <a:solidFill>
                  <a:srgbClr val="E8ECF6"/>
                </a:solidFill>
                <a:latin typeface="Courier New" pitchFamily="34" charset="0"/>
                <a:ea typeface="Courier New" pitchFamily="34" charset="-122"/>
                <a:cs typeface="Courier New" pitchFamily="34" charset="-120"/>
              </a:rPr>
              <a:t>    dice_2 = random.randint(1, 6)</a:t>
            </a:r>
            <a:endParaRPr lang="en-US" sz="1200" dirty="0"/>
          </a:p>
          <a:p>
            <a:pPr indent="0" marL="0">
              <a:buNone/>
            </a:pPr>
            <a:r>
              <a:rPr lang="en-US" sz="1200" dirty="0">
                <a:solidFill>
                  <a:srgbClr val="E8ECF6"/>
                </a:solidFill>
                <a:latin typeface="Courier New" pitchFamily="34" charset="0"/>
                <a:ea typeface="Courier New" pitchFamily="34" charset="-122"/>
                <a:cs typeface="Courier New" pitchFamily="34" charset="-120"/>
              </a:rPr>
              <a:t>    return dice_1 + dice_2</a:t>
            </a:r>
            <a:endParaRPr lang="en-US" sz="1200" dirty="0"/>
          </a:p>
        </p:txBody>
      </p:sp>
      <p:sp>
        <p:nvSpPr>
          <p:cNvPr id="5" name="v1 list"/>
          <p:cNvSpPr txBox="1"/>
          <p:nvPr/>
        </p:nvSpPr>
        <p:spPr>
          <a:xfrm>
            <a:off x="457200" y="2834640"/>
            <a:ext cx="384048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Board as a grid of dots and edges (backend.py)</a:t>
            </a:r>
            <a:endParaRPr lang="en-US" sz="1400" dirty="0"/>
          </a:p>
          <a:p>
            <a:pPr marL="342900" indent="-342900">
              <a:spcAft>
                <a:spcPts val="800"/>
              </a:spcAft>
              <a:buSzPct val="100000"/>
              <a:buChar char="•"/>
            </a:pPr>
            <a:r>
              <a:rPr lang="en-US" sz="1400" dirty="0">
                <a:solidFill>
                  <a:schemeClr val="tx1"/>
                </a:solidFill>
              </a:rPr>
              <a:t>SPACE to roll, E to end your turn</a:t>
            </a:r>
            <a:endParaRPr lang="en-US" sz="1400" dirty="0"/>
          </a:p>
          <a:p>
            <a:pPr marL="342900" indent="-342900">
              <a:spcAft>
                <a:spcPts val="800"/>
              </a:spcAft>
              <a:buSzPct val="100000"/>
              <a:buChar char="•"/>
            </a:pPr>
            <a:r>
              <a:rPr lang="en-US" sz="1400" dirty="0">
                <a:solidFill>
                  <a:schemeClr val="tx1"/>
                </a:solidFill>
              </a:rPr>
              <a:t>Dice auto-roll after 10 seconds</a:t>
            </a:r>
            <a:endParaRPr lang="en-US" sz="1400" dirty="0"/>
          </a:p>
          <a:p>
            <a:pPr marL="342900" indent="-342900">
              <a:spcAft>
                <a:spcPts val="800"/>
              </a:spcAft>
              <a:buSzPct val="100000"/>
              <a:buChar char="•"/>
            </a:pPr>
            <a:r>
              <a:rPr lang="en-US" sz="1400" dirty="0">
                <a:solidFill>
                  <a:schemeClr val="tx1"/>
                </a:solidFill>
              </a:rPr>
              <a:t>Everything printed in the terminal</a:t>
            </a:r>
            <a:endParaRPr lang="en-US" sz="1400" dirty="0"/>
          </a:p>
        </p:txBody>
      </p:sp>
      <p:sp>
        <p:nvSpPr>
          <p:cNvPr id="6" name="v2 heading"/>
          <p:cNvSpPr txBox="1"/>
          <p:nvPr/>
        </p:nvSpPr>
        <p:spPr>
          <a:xfrm>
            <a:off x="4754880" y="1097280"/>
            <a:ext cx="3931920" cy="365760"/>
          </a:xfrm>
          <a:prstGeom prst="rect">
            <a:avLst/>
          </a:prstGeom>
          <a:noFill/>
          <a:ln/>
        </p:spPr>
        <p:txBody>
          <a:bodyPr wrap="square" lIns="0" tIns="0" rIns="0" bIns="0" rtlCol="0" anchor="ctr"/>
          <a:lstStyle/>
          <a:p>
            <a:pPr indent="0" marL="0">
              <a:buNone/>
            </a:pPr>
            <a:r>
              <a:rPr lang="en-US" sz="1800" b="1" dirty="0">
                <a:solidFill>
                  <a:schemeClr val="tx2"/>
                </a:solidFill>
              </a:rPr>
              <a:t>Afternoon: version 2</a:t>
            </a:r>
            <a:endParaRPr lang="en-US" sz="1800" dirty="0"/>
          </a:p>
        </p:txBody>
      </p:sp>
      <p:pic>
        <p:nvPicPr>
          <p:cNvPr id="7" name="Version 2 game screen" descr="Version 2 game screen">    </p:cNvPr>
          <p:cNvPicPr>
            <a:picLocks noChangeAspect="1"/>
          </p:cNvPicPr>
          <p:nvPr/>
        </p:nvPicPr>
        <p:blipFill>
          <a:blip r:embed="rId1"/>
          <a:stretch>
            <a:fillRect/>
          </a:stretch>
        </p:blipFill>
        <p:spPr>
          <a:xfrm>
            <a:off x="4754880" y="1554480"/>
            <a:ext cx="3931920" cy="2359152"/>
          </a:xfrm>
          <a:prstGeom prst="rect">
            <a:avLst/>
          </a:prstGeom>
        </p:spPr>
      </p:pic>
      <p:sp>
        <p:nvSpPr>
          <p:cNvPr id="8" name="Version 2 game screen frame"/>
          <p:cNvSpPr/>
          <p:nvPr/>
        </p:nvSpPr>
        <p:spPr>
          <a:xfrm>
            <a:off x="4754880" y="1554480"/>
            <a:ext cx="3931920" cy="2359152"/>
          </a:xfrm>
          <a:prstGeom prst="rect">
            <a:avLst/>
          </a:prstGeom>
          <a:ln w="12700">
            <a:solidFill>
              <a:schemeClr val="tx2"/>
            </a:solidFill>
            <a:prstDash val="solid"/>
          </a:ln>
        </p:spPr>
      </p:sp>
      <p:sp>
        <p:nvSpPr>
          <p:cNvPr id="9" name="v2 caption"/>
          <p:cNvSpPr txBox="1"/>
          <p:nvPr/>
        </p:nvSpPr>
        <p:spPr>
          <a:xfrm>
            <a:off x="4754880" y="4023360"/>
            <a:ext cx="3931920" cy="365760"/>
          </a:xfrm>
          <a:prstGeom prst="rect">
            <a:avLst/>
          </a:prstGeom>
          <a:noFill/>
          <a:ln/>
        </p:spPr>
        <p:txBody>
          <a:bodyPr wrap="square" lIns="0" tIns="0" rIns="0" bIns="0" rtlCol="0" anchor="ctr"/>
          <a:lstStyle/>
          <a:p>
            <a:pPr indent="0" marL="0">
              <a:buNone/>
            </a:pPr>
            <a:r>
              <a:rPr lang="en-US" sz="1400" dirty="0">
                <a:solidFill>
                  <a:schemeClr val="tx1"/>
                </a:solidFill>
              </a:rPr>
              <a:t>Clickable map, pixel art, bots, tips, online play</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How it's built</a:t>
            </a:r>
            <a:endParaRPr lang="en-US" sz="3200" dirty="0"/>
          </a:p>
        </p:txBody>
      </p:sp>
      <p:sp>
        <p:nvSpPr>
          <p:cNvPr id="3" name="screens box"/>
          <p:cNvSpPr/>
          <p:nvPr/>
        </p:nvSpPr>
        <p:spPr>
          <a:xfrm>
            <a:off x="457200" y="1188720"/>
            <a:ext cx="2286000" cy="1005840"/>
          </a:xfrm>
          <a:prstGeom prst="rect">
            <a:avLst/>
          </a:prstGeom>
          <a:solidFill>
            <a:schemeClr val="bg2"/>
          </a:solidFill>
          <a:ln w="12700">
            <a:solidFill>
              <a:schemeClr val="tx2"/>
            </a:solidFill>
            <a:prstDash val="solid"/>
          </a:ln>
        </p:spPr>
      </p:sp>
      <p:sp>
        <p:nvSpPr>
          <p:cNvPr id="4" name="screens text"/>
          <p:cNvSpPr txBox="1"/>
          <p:nvPr/>
        </p:nvSpPr>
        <p:spPr>
          <a:xfrm>
            <a:off x="566928" y="1188720"/>
            <a:ext cx="2066544" cy="1005840"/>
          </a:xfrm>
          <a:prstGeom prst="rect">
            <a:avLst/>
          </a:prstGeom>
          <a:noFill/>
          <a:ln/>
        </p:spPr>
        <p:txBody>
          <a:bodyPr wrap="square" lIns="0" tIns="0" rIns="0" bIns="0" rtlCol="0" anchor="ctr"/>
          <a:lstStyle/>
          <a:p>
            <a:pPr indent="0" marL="0">
              <a:buNone/>
            </a:pPr>
            <a:r>
              <a:rPr lang="en-US" sz="1500" b="1" dirty="0">
                <a:solidFill>
                  <a:schemeClr val="tx2"/>
                </a:solidFill>
              </a:rPr>
              <a:t>app.py + view.py</a:t>
            </a:r>
            <a:endParaRPr lang="en-US" sz="1500" dirty="0"/>
          </a:p>
          <a:p>
            <a:pPr indent="0" marL="0">
              <a:buNone/>
            </a:pPr>
            <a:r>
              <a:rPr lang="en-US" sz="1200" dirty="0">
                <a:solidFill>
                  <a:schemeClr val="tx1"/>
                </a:solidFill>
              </a:rPr>
              <a:t>The pixel screens, drawn with pygame</a:t>
            </a:r>
            <a:endParaRPr lang="en-US" sz="1500" dirty="0"/>
          </a:p>
        </p:txBody>
      </p:sp>
      <p:sp>
        <p:nvSpPr>
          <p:cNvPr id="5" name="rules box"/>
          <p:cNvSpPr/>
          <p:nvPr/>
        </p:nvSpPr>
        <p:spPr>
          <a:xfrm>
            <a:off x="3291840" y="1188720"/>
            <a:ext cx="2286000" cy="1005840"/>
          </a:xfrm>
          <a:prstGeom prst="rect">
            <a:avLst/>
          </a:prstGeom>
          <a:solidFill>
            <a:srgbClr val="FFF3C4"/>
          </a:solidFill>
          <a:ln w="12700">
            <a:solidFill>
              <a:schemeClr val="tx2"/>
            </a:solidFill>
            <a:prstDash val="solid"/>
          </a:ln>
        </p:spPr>
      </p:sp>
      <p:sp>
        <p:nvSpPr>
          <p:cNvPr id="6" name="rules text"/>
          <p:cNvSpPr txBox="1"/>
          <p:nvPr/>
        </p:nvSpPr>
        <p:spPr>
          <a:xfrm>
            <a:off x="3401568" y="1188720"/>
            <a:ext cx="2066544" cy="1005840"/>
          </a:xfrm>
          <a:prstGeom prst="rect">
            <a:avLst/>
          </a:prstGeom>
          <a:noFill/>
          <a:ln/>
        </p:spPr>
        <p:txBody>
          <a:bodyPr wrap="square" lIns="0" tIns="0" rIns="0" bIns="0" rtlCol="0" anchor="ctr"/>
          <a:lstStyle/>
          <a:p>
            <a:pPr indent="0" marL="0">
              <a:buNone/>
            </a:pPr>
            <a:r>
              <a:rPr lang="en-US" sz="1500" b="1" dirty="0">
                <a:solidFill>
                  <a:schemeClr val="tx2"/>
                </a:solidFill>
              </a:rPr>
              <a:t>rules.py</a:t>
            </a:r>
            <a:endParaRPr lang="en-US" sz="1500" dirty="0"/>
          </a:p>
          <a:p>
            <a:pPr indent="0" marL="0">
              <a:buNone/>
            </a:pPr>
            <a:r>
              <a:rPr lang="en-US" sz="1200" dirty="0">
                <a:solidFill>
                  <a:schemeClr val="tx1"/>
                </a:solidFill>
              </a:rPr>
              <a:t>Every rule of the game. No graphics</a:t>
            </a:r>
            <a:endParaRPr lang="en-US" sz="1500" dirty="0"/>
          </a:p>
        </p:txBody>
      </p:sp>
      <p:sp>
        <p:nvSpPr>
          <p:cNvPr id="7" name="bots box"/>
          <p:cNvSpPr/>
          <p:nvPr/>
        </p:nvSpPr>
        <p:spPr>
          <a:xfrm>
            <a:off x="3291840" y="2697480"/>
            <a:ext cx="2286000" cy="914400"/>
          </a:xfrm>
          <a:prstGeom prst="rect">
            <a:avLst/>
          </a:prstGeom>
          <a:solidFill>
            <a:schemeClr val="bg2"/>
          </a:solidFill>
          <a:ln w="12700">
            <a:solidFill>
              <a:schemeClr val="tx2"/>
            </a:solidFill>
            <a:prstDash val="solid"/>
          </a:ln>
        </p:spPr>
      </p:sp>
      <p:sp>
        <p:nvSpPr>
          <p:cNvPr id="8" name="bots text"/>
          <p:cNvSpPr txBox="1"/>
          <p:nvPr/>
        </p:nvSpPr>
        <p:spPr>
          <a:xfrm>
            <a:off x="3401568" y="2697480"/>
            <a:ext cx="2066544" cy="914400"/>
          </a:xfrm>
          <a:prstGeom prst="rect">
            <a:avLst/>
          </a:prstGeom>
          <a:noFill/>
          <a:ln/>
        </p:spPr>
        <p:txBody>
          <a:bodyPr wrap="square" lIns="0" tIns="0" rIns="0" bIns="0" rtlCol="0" anchor="ctr"/>
          <a:lstStyle/>
          <a:p>
            <a:pPr indent="0" marL="0">
              <a:buNone/>
            </a:pPr>
            <a:r>
              <a:rPr lang="en-US" sz="1500" b="1" dirty="0">
                <a:solidFill>
                  <a:schemeClr val="tx2"/>
                </a:solidFill>
              </a:rPr>
              <a:t>bot.py</a:t>
            </a:r>
            <a:endParaRPr lang="en-US" sz="1500" dirty="0"/>
          </a:p>
          <a:p>
            <a:pPr indent="0" marL="0">
              <a:buNone/>
            </a:pPr>
            <a:r>
              <a:rPr lang="en-US" sz="1200" dirty="0">
                <a:solidFill>
                  <a:schemeClr val="tx1"/>
                </a:solidFill>
              </a:rPr>
              <a:t>The bots for empty seats</a:t>
            </a:r>
            <a:endParaRPr lang="en-US" sz="1500" dirty="0"/>
          </a:p>
        </p:txBody>
      </p:sp>
      <p:sp>
        <p:nvSpPr>
          <p:cNvPr id="9" name="online box"/>
          <p:cNvSpPr/>
          <p:nvPr/>
        </p:nvSpPr>
        <p:spPr>
          <a:xfrm>
            <a:off x="6126480" y="1188720"/>
            <a:ext cx="2560320" cy="1005840"/>
          </a:xfrm>
          <a:prstGeom prst="rect">
            <a:avLst/>
          </a:prstGeom>
          <a:solidFill>
            <a:schemeClr val="bg2"/>
          </a:solidFill>
          <a:ln w="12700">
            <a:solidFill>
              <a:schemeClr val="tx2"/>
            </a:solidFill>
            <a:prstDash val="solid"/>
          </a:ln>
        </p:spPr>
      </p:sp>
      <p:sp>
        <p:nvSpPr>
          <p:cNvPr id="10" name="online text"/>
          <p:cNvSpPr txBox="1"/>
          <p:nvPr/>
        </p:nvSpPr>
        <p:spPr>
          <a:xfrm>
            <a:off x="6236208" y="1188720"/>
            <a:ext cx="2340864" cy="1005840"/>
          </a:xfrm>
          <a:prstGeom prst="rect">
            <a:avLst/>
          </a:prstGeom>
          <a:noFill/>
          <a:ln/>
        </p:spPr>
        <p:txBody>
          <a:bodyPr wrap="square" lIns="0" tIns="0" rIns="0" bIns="0" rtlCol="0" anchor="ctr"/>
          <a:lstStyle/>
          <a:p>
            <a:pPr indent="0" marL="0">
              <a:buNone/>
            </a:pPr>
            <a:r>
              <a:rPr lang="en-US" sz="1500" b="1" dirty="0">
                <a:solidFill>
                  <a:schemeClr val="tx2"/>
                </a:solidFill>
              </a:rPr>
              <a:t>online.py</a:t>
            </a:r>
            <a:endParaRPr lang="en-US" sz="1500" dirty="0"/>
          </a:p>
          <a:p>
            <a:pPr indent="0" marL="0">
              <a:buNone/>
            </a:pPr>
            <a:r>
              <a:rPr lang="en-US" sz="1200" dirty="0">
                <a:solidFill>
                  <a:schemeClr val="tx1"/>
                </a:solidFill>
              </a:rPr>
              <a:t>Host's browser runs the game, sends each player their view</a:t>
            </a:r>
            <a:endParaRPr lang="en-US" sz="1500" dirty="0"/>
          </a:p>
        </p:txBody>
      </p:sp>
      <p:sp>
        <p:nvSpPr>
          <p:cNvPr id="11" name="friends box"/>
          <p:cNvSpPr/>
          <p:nvPr/>
        </p:nvSpPr>
        <p:spPr>
          <a:xfrm>
            <a:off x="6126480" y="2697480"/>
            <a:ext cx="2560320" cy="914400"/>
          </a:xfrm>
          <a:prstGeom prst="rect">
            <a:avLst/>
          </a:prstGeom>
          <a:solidFill>
            <a:srgbClr val="DDF0D6"/>
          </a:solidFill>
          <a:ln w="12700">
            <a:solidFill>
              <a:schemeClr val="tx2"/>
            </a:solidFill>
            <a:prstDash val="solid"/>
          </a:ln>
        </p:spPr>
      </p:sp>
      <p:sp>
        <p:nvSpPr>
          <p:cNvPr id="12" name="friends text"/>
          <p:cNvSpPr txBox="1"/>
          <p:nvPr/>
        </p:nvSpPr>
        <p:spPr>
          <a:xfrm>
            <a:off x="6236208" y="2697480"/>
            <a:ext cx="2340864" cy="914400"/>
          </a:xfrm>
          <a:prstGeom prst="rect">
            <a:avLst/>
          </a:prstGeom>
          <a:noFill/>
          <a:ln/>
        </p:spPr>
        <p:txBody>
          <a:bodyPr wrap="square" lIns="0" tIns="0" rIns="0" bIns="0" rtlCol="0" anchor="ctr"/>
          <a:lstStyle/>
          <a:p>
            <a:pPr indent="0" marL="0">
              <a:buNone/>
            </a:pPr>
            <a:r>
              <a:rPr lang="en-US" sz="1500" b="1" dirty="0">
                <a:solidFill>
                  <a:schemeClr val="tx2"/>
                </a:solidFill>
              </a:rPr>
              <a:t>Friends' browsers</a:t>
            </a:r>
            <a:endParaRPr lang="en-US" sz="1500" dirty="0"/>
          </a:p>
          <a:p>
            <a:pPr indent="0" marL="0">
              <a:buNone/>
            </a:pPr>
            <a:r>
              <a:rPr lang="en-US" sz="1200" dirty="0">
                <a:solidFill>
                  <a:schemeClr val="tx1"/>
                </a:solidFill>
              </a:rPr>
              <a:t>Connect through PeerJS</a:t>
            </a:r>
            <a:endParaRPr lang="en-US" sz="1500" dirty="0"/>
          </a:p>
        </p:txBody>
      </p:sp>
      <p:sp>
        <p:nvSpPr>
          <p:cNvPr id="13" name="screens to rules"/>
          <p:cNvSpPr/>
          <p:nvPr/>
        </p:nvSpPr>
        <p:spPr>
          <a:xfrm>
            <a:off x="2743200" y="1691640"/>
            <a:ext cx="548640" cy="0"/>
          </a:xfrm>
          <a:prstGeom prst="line">
            <a:avLst/>
          </a:prstGeom>
          <a:noFill/>
          <a:ln w="19050">
            <a:solidFill>
              <a:schemeClr val="tx2"/>
            </a:solidFill>
            <a:prstDash val="solid"/>
            <a:headEnd type="triangle"/>
            <a:tailEnd type="triangle"/>
          </a:ln>
        </p:spPr>
      </p:sp>
      <p:sp>
        <p:nvSpPr>
          <p:cNvPr id="14" name="rules to online"/>
          <p:cNvSpPr/>
          <p:nvPr/>
        </p:nvSpPr>
        <p:spPr>
          <a:xfrm>
            <a:off x="5577840" y="1691640"/>
            <a:ext cx="548640" cy="0"/>
          </a:xfrm>
          <a:prstGeom prst="line">
            <a:avLst/>
          </a:prstGeom>
          <a:noFill/>
          <a:ln w="19050">
            <a:solidFill>
              <a:schemeClr val="tx2"/>
            </a:solidFill>
            <a:prstDash val="solid"/>
            <a:headEnd type="triangle"/>
            <a:tailEnd type="triangle"/>
          </a:ln>
        </p:spPr>
      </p:sp>
      <p:sp>
        <p:nvSpPr>
          <p:cNvPr id="15" name="rules to bots"/>
          <p:cNvSpPr/>
          <p:nvPr/>
        </p:nvSpPr>
        <p:spPr>
          <a:xfrm>
            <a:off x="4434840" y="2194560"/>
            <a:ext cx="0" cy="502920"/>
          </a:xfrm>
          <a:prstGeom prst="line">
            <a:avLst/>
          </a:prstGeom>
          <a:noFill/>
          <a:ln w="19050">
            <a:solidFill>
              <a:schemeClr val="tx2"/>
            </a:solidFill>
            <a:prstDash val="solid"/>
            <a:headEnd type="triangle"/>
            <a:tailEnd type="triangle"/>
          </a:ln>
        </p:spPr>
      </p:sp>
      <p:sp>
        <p:nvSpPr>
          <p:cNvPr id="16" name="online to friends"/>
          <p:cNvSpPr/>
          <p:nvPr/>
        </p:nvSpPr>
        <p:spPr>
          <a:xfrm>
            <a:off x="7406640" y="2194560"/>
            <a:ext cx="0" cy="502920"/>
          </a:xfrm>
          <a:prstGeom prst="line">
            <a:avLst/>
          </a:prstGeom>
          <a:noFill/>
          <a:ln w="19050">
            <a:solidFill>
              <a:schemeClr val="tx2"/>
            </a:solidFill>
            <a:prstDash val="solid"/>
            <a:headEnd type="triangle"/>
            <a:tailEnd type="triangle"/>
          </a:ln>
        </p:spPr>
      </p:sp>
      <p:sp>
        <p:nvSpPr>
          <p:cNvPr id="17" name="hosting line"/>
          <p:cNvSpPr txBox="1"/>
          <p:nvPr/>
        </p:nvSpPr>
        <p:spPr>
          <a:xfrm>
            <a:off x="457200" y="4023360"/>
            <a:ext cx="8229600" cy="457200"/>
          </a:xfrm>
          <a:prstGeom prst="rect">
            <a:avLst/>
          </a:prstGeom>
          <a:noFill/>
          <a:ln/>
        </p:spPr>
        <p:txBody>
          <a:bodyPr wrap="square" lIns="0" tIns="0" rIns="0" bIns="0" rtlCol="0" anchor="ctr"/>
          <a:lstStyle/>
          <a:p>
            <a:pPr indent="0" marL="0">
              <a:buNone/>
            </a:pPr>
            <a:r>
              <a:rPr lang="en-US" sz="1500" dirty="0">
                <a:solidFill>
                  <a:schemeClr val="tx1"/>
                </a:solidFill>
              </a:rPr>
              <a:t>pygbag turns the pygame code into a web page, and GitHub Pages hosts it for free.</a:t>
            </a:r>
            <a:endParaRPr lang="en-US" sz="15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Testing, and the bug that broke it</a:t>
            </a:r>
            <a:endParaRPr lang="en-US" sz="3200" dirty="0"/>
          </a:p>
        </p:txBody>
      </p:sp>
      <p:sp>
        <p:nvSpPr>
          <p:cNvPr id="3" name="stat 200"/>
          <p:cNvSpPr txBox="1"/>
          <p:nvPr/>
        </p:nvSpPr>
        <p:spPr>
          <a:xfrm>
            <a:off x="457200" y="1188720"/>
            <a:ext cx="2606040" cy="868680"/>
          </a:xfrm>
          <a:prstGeom prst="rect">
            <a:avLst/>
          </a:prstGeom>
          <a:noFill/>
          <a:ln/>
        </p:spPr>
        <p:txBody>
          <a:bodyPr wrap="square" lIns="0" tIns="0" rIns="0" bIns="0" rtlCol="0" anchor="ctr"/>
          <a:lstStyle/>
          <a:p>
            <a:pPr indent="0" marL="0">
              <a:buNone/>
            </a:pPr>
            <a:r>
              <a:rPr lang="en-US" sz="6000" b="1" dirty="0">
                <a:solidFill>
                  <a:schemeClr val="accent1"/>
                </a:solidFill>
              </a:rPr>
              <a:t>200</a:t>
            </a:r>
            <a:endParaRPr lang="en-US" sz="6000" dirty="0"/>
          </a:p>
        </p:txBody>
      </p:sp>
      <p:sp>
        <p:nvSpPr>
          <p:cNvPr id="4" name="stat label 200"/>
          <p:cNvSpPr txBox="1"/>
          <p:nvPr/>
        </p:nvSpPr>
        <p:spPr>
          <a:xfrm>
            <a:off x="457200" y="2057400"/>
            <a:ext cx="2377440" cy="548640"/>
          </a:xfrm>
          <a:prstGeom prst="rect">
            <a:avLst/>
          </a:prstGeom>
          <a:noFill/>
          <a:ln/>
        </p:spPr>
        <p:txBody>
          <a:bodyPr wrap="square" lIns="0" tIns="0" rIns="0" bIns="0" rtlCol="0" anchor="t"/>
          <a:lstStyle/>
          <a:p>
            <a:pPr indent="0" marL="0">
              <a:buNone/>
            </a:pPr>
            <a:r>
              <a:rPr lang="en-US" sz="1400" dirty="0">
                <a:solidFill>
                  <a:schemeClr val="tx1"/>
                </a:solidFill>
              </a:rPr>
              <a:t>bot games every time we change a rule</a:t>
            </a:r>
            <a:endParaRPr lang="en-US" sz="1400" dirty="0"/>
          </a:p>
        </p:txBody>
      </p:sp>
      <p:sp>
        <p:nvSpPr>
          <p:cNvPr id="5" name="stat 460"/>
          <p:cNvSpPr txBox="1"/>
          <p:nvPr/>
        </p:nvSpPr>
        <p:spPr>
          <a:xfrm>
            <a:off x="3246120" y="1188720"/>
            <a:ext cx="2606040" cy="868680"/>
          </a:xfrm>
          <a:prstGeom prst="rect">
            <a:avLst/>
          </a:prstGeom>
          <a:noFill/>
          <a:ln/>
        </p:spPr>
        <p:txBody>
          <a:bodyPr wrap="square" lIns="0" tIns="0" rIns="0" bIns="0" rtlCol="0" anchor="ctr"/>
          <a:lstStyle/>
          <a:p>
            <a:pPr indent="0" marL="0">
              <a:buNone/>
            </a:pPr>
            <a:r>
              <a:rPr lang="en-US" sz="6000" b="1" dirty="0">
                <a:solidFill>
                  <a:schemeClr val="accent3"/>
                </a:solidFill>
              </a:rPr>
              <a:t>460</a:t>
            </a:r>
            <a:endParaRPr lang="en-US" sz="6000" dirty="0"/>
          </a:p>
        </p:txBody>
      </p:sp>
      <p:sp>
        <p:nvSpPr>
          <p:cNvPr id="6" name="stat label 460"/>
          <p:cNvSpPr txBox="1"/>
          <p:nvPr/>
        </p:nvSpPr>
        <p:spPr>
          <a:xfrm>
            <a:off x="3246120" y="2057400"/>
            <a:ext cx="2377440" cy="548640"/>
          </a:xfrm>
          <a:prstGeom prst="rect">
            <a:avLst/>
          </a:prstGeom>
          <a:noFill/>
          <a:ln/>
        </p:spPr>
        <p:txBody>
          <a:bodyPr wrap="square" lIns="0" tIns="0" rIns="0" bIns="0" rtlCol="0" anchor="t"/>
          <a:lstStyle/>
          <a:p>
            <a:pPr indent="0" marL="0">
              <a:buNone/>
            </a:pPr>
            <a:r>
              <a:rPr lang="en-US" sz="1400" dirty="0">
                <a:solidFill>
                  <a:schemeClr val="tx1"/>
                </a:solidFill>
              </a:rPr>
              <a:t>rounds in our longest broken game</a:t>
            </a:r>
            <a:endParaRPr lang="en-US" sz="1400" dirty="0"/>
          </a:p>
        </p:txBody>
      </p:sp>
      <p:sp>
        <p:nvSpPr>
          <p:cNvPr id="7" name="stat 45"/>
          <p:cNvSpPr txBox="1"/>
          <p:nvPr/>
        </p:nvSpPr>
        <p:spPr>
          <a:xfrm>
            <a:off x="6035040" y="1188720"/>
            <a:ext cx="2606040" cy="868680"/>
          </a:xfrm>
          <a:prstGeom prst="rect">
            <a:avLst/>
          </a:prstGeom>
          <a:noFill/>
          <a:ln/>
        </p:spPr>
        <p:txBody>
          <a:bodyPr wrap="square" lIns="0" tIns="0" rIns="0" bIns="0" rtlCol="0" anchor="ctr"/>
          <a:lstStyle/>
          <a:p>
            <a:pPr indent="0" marL="0">
              <a:buNone/>
            </a:pPr>
            <a:r>
              <a:rPr lang="en-US" sz="6000" b="1" dirty="0">
                <a:solidFill>
                  <a:schemeClr val="accent1"/>
                </a:solidFill>
              </a:rPr>
              <a:t>45</a:t>
            </a:r>
            <a:endParaRPr lang="en-US" sz="6000" dirty="0"/>
          </a:p>
        </p:txBody>
      </p:sp>
      <p:sp>
        <p:nvSpPr>
          <p:cNvPr id="8" name="stat label 45"/>
          <p:cNvSpPr txBox="1"/>
          <p:nvPr/>
        </p:nvSpPr>
        <p:spPr>
          <a:xfrm>
            <a:off x="6035040" y="2057400"/>
            <a:ext cx="2377440" cy="548640"/>
          </a:xfrm>
          <a:prstGeom prst="rect">
            <a:avLst/>
          </a:prstGeom>
          <a:noFill/>
          <a:ln/>
        </p:spPr>
        <p:txBody>
          <a:bodyPr wrap="square" lIns="0" tIns="0" rIns="0" bIns="0" rtlCol="0" anchor="t"/>
          <a:lstStyle/>
          <a:p>
            <a:pPr indent="0" marL="0">
              <a:buNone/>
            </a:pPr>
            <a:r>
              <a:rPr lang="en-US" sz="1400" dirty="0">
                <a:solidFill>
                  <a:schemeClr val="tx1"/>
                </a:solidFill>
              </a:rPr>
              <a:t>rounds in the longest game after the fix</a:t>
            </a:r>
            <a:endParaRPr lang="en-US" sz="1400" dirty="0"/>
          </a:p>
        </p:txBody>
      </p:sp>
      <p:sp>
        <p:nvSpPr>
          <p:cNvPr id="9" name="bug story"/>
          <p:cNvSpPr txBox="1"/>
          <p:nvPr/>
        </p:nvSpPr>
        <p:spPr>
          <a:xfrm>
            <a:off x="457200" y="3017520"/>
            <a:ext cx="8229600" cy="1097280"/>
          </a:xfrm>
          <a:prstGeom prst="rect">
            <a:avLst/>
          </a:prstGeom>
          <a:noFill/>
          <a:ln/>
        </p:spPr>
        <p:txBody>
          <a:bodyPr wrap="square" lIns="0" tIns="0" rIns="0" bIns="0" rtlCol="0" anchor="t"/>
          <a:lstStyle/>
          <a:p>
            <a:pPr indent="0" marL="0">
              <a:buNone/>
            </a:pPr>
            <a:r>
              <a:rPr lang="en-US" sz="1600" b="1" dirty="0">
                <a:solidFill>
                  <a:schemeClr val="tx1"/>
                </a:solidFill>
              </a:rPr>
              <a:t>What happened: </a:t>
            </a:r>
            <a:pPr indent="0" marL="0">
              <a:buNone/>
            </a:pPr>
            <a:r>
              <a:rPr lang="en-US" sz="1600" dirty="0">
                <a:solidFill>
                  <a:schemeClr val="tx1"/>
                </a:solidFill>
              </a:rPr>
              <a:t>with unlimited bombs, the bots kept nuking the island until it was all craters and nobody could earn anything. </a:t>
            </a:r>
            <a:pPr indent="0" marL="0">
              <a:buNone/>
            </a:pPr>
            <a:r>
              <a:rPr lang="en-US" sz="1600" b="1" dirty="0">
                <a:solidFill>
                  <a:schemeClr val="tx1"/>
                </a:solidFill>
              </a:rPr>
              <a:t>The fix: </a:t>
            </a:r>
            <a:pPr indent="0" marL="0">
              <a:buNone/>
            </a:pPr>
            <a:r>
              <a:rPr lang="en-US" sz="1600" dirty="0">
                <a:solidFill>
                  <a:schemeClr val="tx1"/>
                </a:solidFill>
              </a:rPr>
              <a:t>one bomb per player. Now a typical game is about 17 rounds.</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572000" cy="914400"/>
          </a:xfrm>
          <a:prstGeom prst="rect">
            <a:avLst/>
          </a:prstGeom>
          <a:noFill/>
          <a:ln/>
        </p:spPr>
        <p:txBody>
          <a:bodyPr wrap="square" lIns="0" tIns="0" rIns="0" bIns="0" rtlCol="0" anchor="b"/>
          <a:lstStyle/>
          <a:p>
            <a:pPr algn="l" indent="0" marL="0">
              <a:buNone/>
            </a:pPr>
            <a:r>
              <a:rPr lang="en-US" sz="4400" b="1" dirty="0">
                <a:solidFill>
                  <a:schemeClr val="bg1"/>
                </a:solidFill>
              </a:rPr>
              <a:t>Live demo</a:t>
            </a:r>
            <a:endParaRPr lang="en-US" sz="4400" dirty="0"/>
          </a:p>
        </p:txBody>
      </p:sp>
      <p:sp>
        <p:nvSpPr>
          <p:cNvPr id="3" name="Text 0"/>
          <p:cNvSpPr/>
          <p:nvPr>
            <p:ph idx="101" type="body" hasCustomPrompt="1"/>
          </p:nvPr>
        </p:nvSpPr>
        <p:spPr>
          <a:xfrm>
            <a:off x="548640" y="2148840"/>
            <a:ext cx="4572000" cy="1645920"/>
          </a:xfrm>
          <a:prstGeom prst="rect">
            <a:avLst/>
          </a:prstGeom>
          <a:noFill/>
          <a:ln/>
        </p:spPr>
        <p:txBody>
          <a:bodyPr wrap="square" lIns="0" tIns="0" rIns="0" bIns="0" rtlCol="0" anchor="t"/>
          <a:lstStyle/>
          <a:p>
            <a:pPr algn="l" indent="0" marL="0">
              <a:buNone/>
            </a:pPr>
            <a:r>
              <a:rPr lang="en-US" sz="2000" dirty="0">
                <a:solidFill>
                  <a:schemeClr val="bg1"/>
                </a:solidFill>
              </a:rPr>
              <a:t>Play along on your phone or laptop:</a:t>
            </a:r>
            <a:endParaRPr lang="en-US" sz="2000" dirty="0"/>
          </a:p>
          <a:p>
            <a:pPr algn="l" indent="0" marL="0">
              <a:buNone/>
            </a:pPr>
            <a:r>
              <a:rPr lang="en-US" sz="2000" b="1" dirty="0">
                <a:solidFill>
                  <a:schemeClr val="accent2"/>
                </a:solidFill>
              </a:rPr>
              <a:t>memara719.github.io/kingsfold/isotopia</a:t>
            </a:r>
            <a:endParaRPr lang="en-US" sz="2000" dirty="0"/>
          </a:p>
        </p:txBody>
      </p:sp>
      <p:sp>
        <p:nvSpPr>
          <p:cNvPr id="4" name="qr background"/>
          <p:cNvSpPr/>
          <p:nvPr/>
        </p:nvSpPr>
        <p:spPr>
          <a:xfrm>
            <a:off x="5989320" y="1051560"/>
            <a:ext cx="2651760" cy="2651760"/>
          </a:xfrm>
          <a:prstGeom prst="rect">
            <a:avLst/>
          </a:prstGeom>
          <a:solidFill>
            <a:schemeClr val="bg1"/>
          </a:solidFill>
          <a:ln/>
        </p:spPr>
      </p:sp>
      <p:pic>
        <p:nvPicPr>
          <p:cNvPr id="5" name="QR code to the game" descr="QR code linking to the game">    </p:cNvPr>
          <p:cNvPicPr>
            <a:picLocks noChangeAspect="1"/>
          </p:cNvPicPr>
          <p:nvPr/>
        </p:nvPicPr>
        <p:blipFill>
          <a:blip r:embed="rId1"/>
          <a:stretch>
            <a:fillRect/>
          </a:stretch>
        </p:blipFill>
        <p:spPr>
          <a:xfrm>
            <a:off x="6080760" y="1143000"/>
            <a:ext cx="2468880" cy="2468880"/>
          </a:xfrm>
          <a:prstGeom prst="rect">
            <a:avLst/>
          </a:prstGeom>
        </p:spPr>
      </p:pic>
      <p:sp>
        <p:nvSpPr>
          <p:cNvPr id="6" name="qr caption"/>
          <p:cNvSpPr txBox="1"/>
          <p:nvPr/>
        </p:nvSpPr>
        <p:spPr>
          <a:xfrm>
            <a:off x="5989320" y="3794760"/>
            <a:ext cx="2651760" cy="320040"/>
          </a:xfrm>
          <a:prstGeom prst="rect">
            <a:avLst/>
          </a:prstGeom>
          <a:noFill/>
          <a:ln/>
        </p:spPr>
        <p:txBody>
          <a:bodyPr wrap="square" lIns="0" tIns="0" rIns="0" bIns="0" rtlCol="0" anchor="ctr"/>
          <a:lstStyle/>
          <a:p>
            <a:pPr algn="ctr" indent="0" marL="0">
              <a:buNone/>
            </a:pPr>
            <a:r>
              <a:rPr lang="en-US" sz="1400" dirty="0">
                <a:solidFill>
                  <a:schemeClr val="bg1"/>
                </a:solidFill>
              </a:rPr>
              <a:t>Scan to play</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In case the Wi-Fi gives up</a:t>
            </a:r>
            <a:endParaRPr lang="en-US" sz="3200" dirty="0"/>
          </a:p>
        </p:txBody>
      </p:sp>
      <p:pic>
        <p:nvPicPr>
          <p:cNvPr id="3" name="Host a table, send the link" descr="Host a table, send the link">    </p:cNvPr>
          <p:cNvPicPr>
            <a:picLocks noChangeAspect="1"/>
          </p:cNvPicPr>
          <p:nvPr/>
        </p:nvPicPr>
        <p:blipFill>
          <a:blip r:embed="rId1"/>
          <a:stretch>
            <a:fillRect/>
          </a:stretch>
        </p:blipFill>
        <p:spPr>
          <a:xfrm>
            <a:off x="457200" y="1280160"/>
            <a:ext cx="2606040" cy="1563624"/>
          </a:xfrm>
          <a:prstGeom prst="rect">
            <a:avLst/>
          </a:prstGeom>
        </p:spPr>
      </p:pic>
      <p:sp>
        <p:nvSpPr>
          <p:cNvPr id="4" name="Host a table, send the link frame"/>
          <p:cNvSpPr/>
          <p:nvPr/>
        </p:nvSpPr>
        <p:spPr>
          <a:xfrm>
            <a:off x="457200" y="1280160"/>
            <a:ext cx="2606040" cy="1563624"/>
          </a:xfrm>
          <a:prstGeom prst="rect">
            <a:avLst/>
          </a:prstGeom>
          <a:ln w="12700">
            <a:solidFill>
              <a:schemeClr val="tx2"/>
            </a:solidFill>
            <a:prstDash val="solid"/>
          </a:ln>
        </p:spPr>
      </p:sp>
      <p:sp>
        <p:nvSpPr>
          <p:cNvPr id="5" name="caption Host a table, send the link"/>
          <p:cNvSpPr txBox="1"/>
          <p:nvPr/>
        </p:nvSpPr>
        <p:spPr>
          <a:xfrm>
            <a:off x="457200" y="2926080"/>
            <a:ext cx="2606040" cy="365760"/>
          </a:xfrm>
          <a:prstGeom prst="rect">
            <a:avLst/>
          </a:prstGeom>
          <a:noFill/>
          <a:ln/>
        </p:spPr>
        <p:txBody>
          <a:bodyPr wrap="square" lIns="0" tIns="0" rIns="0" bIns="0" rtlCol="0" anchor="ctr"/>
          <a:lstStyle/>
          <a:p>
            <a:pPr indent="0" marL="0">
              <a:buNone/>
            </a:pPr>
            <a:r>
              <a:rPr lang="en-US" sz="1400" dirty="0">
                <a:solidFill>
                  <a:schemeClr val="tx1"/>
                </a:solidFill>
              </a:rPr>
              <a:t>Host a table, send the link</a:t>
            </a:r>
            <a:endParaRPr lang="en-US" sz="1400" dirty="0"/>
          </a:p>
        </p:txBody>
      </p:sp>
      <p:pic>
        <p:nvPicPr>
          <p:cNvPr id="6" name="Pick a land to bomb" descr="Pick a land to bomb">    </p:cNvPr>
          <p:cNvPicPr>
            <a:picLocks noChangeAspect="1"/>
          </p:cNvPicPr>
          <p:nvPr/>
        </p:nvPicPr>
        <p:blipFill>
          <a:blip r:embed="rId2"/>
          <a:stretch>
            <a:fillRect/>
          </a:stretch>
        </p:blipFill>
        <p:spPr>
          <a:xfrm>
            <a:off x="3246120" y="1280160"/>
            <a:ext cx="2606040" cy="1563624"/>
          </a:xfrm>
          <a:prstGeom prst="rect">
            <a:avLst/>
          </a:prstGeom>
        </p:spPr>
      </p:pic>
      <p:sp>
        <p:nvSpPr>
          <p:cNvPr id="7" name="Pick a land to bomb frame"/>
          <p:cNvSpPr/>
          <p:nvPr/>
        </p:nvSpPr>
        <p:spPr>
          <a:xfrm>
            <a:off x="3246120" y="1280160"/>
            <a:ext cx="2606040" cy="1563624"/>
          </a:xfrm>
          <a:prstGeom prst="rect">
            <a:avLst/>
          </a:prstGeom>
          <a:ln w="12700">
            <a:solidFill>
              <a:schemeClr val="tx2"/>
            </a:solidFill>
            <a:prstDash val="solid"/>
          </a:ln>
        </p:spPr>
      </p:sp>
      <p:sp>
        <p:nvSpPr>
          <p:cNvPr id="8" name="caption Pick a land to bomb"/>
          <p:cNvSpPr txBox="1"/>
          <p:nvPr/>
        </p:nvSpPr>
        <p:spPr>
          <a:xfrm>
            <a:off x="3246120" y="2926080"/>
            <a:ext cx="2606040" cy="365760"/>
          </a:xfrm>
          <a:prstGeom prst="rect">
            <a:avLst/>
          </a:prstGeom>
          <a:noFill/>
          <a:ln/>
        </p:spPr>
        <p:txBody>
          <a:bodyPr wrap="square" lIns="0" tIns="0" rIns="0" bIns="0" rtlCol="0" anchor="ctr"/>
          <a:lstStyle/>
          <a:p>
            <a:pPr indent="0" marL="0">
              <a:buNone/>
            </a:pPr>
            <a:r>
              <a:rPr lang="en-US" sz="1400" dirty="0">
                <a:solidFill>
                  <a:schemeClr val="tx1"/>
                </a:solidFill>
              </a:rPr>
              <a:t>Pick a land to bomb</a:t>
            </a:r>
            <a:endParaRPr lang="en-US" sz="1400" dirty="0"/>
          </a:p>
        </p:txBody>
      </p:sp>
      <p:pic>
        <p:nvPicPr>
          <p:cNvPr id="9" name="Boom: a crater forever" descr="Boom: a crater forever">    </p:cNvPr>
          <p:cNvPicPr>
            <a:picLocks noChangeAspect="1"/>
          </p:cNvPicPr>
          <p:nvPr/>
        </p:nvPicPr>
        <p:blipFill>
          <a:blip r:embed="rId3"/>
          <a:stretch>
            <a:fillRect/>
          </a:stretch>
        </p:blipFill>
        <p:spPr>
          <a:xfrm>
            <a:off x="6035040" y="1280160"/>
            <a:ext cx="2606040" cy="1563624"/>
          </a:xfrm>
          <a:prstGeom prst="rect">
            <a:avLst/>
          </a:prstGeom>
        </p:spPr>
      </p:pic>
      <p:sp>
        <p:nvSpPr>
          <p:cNvPr id="10" name="Boom: a crater forever frame"/>
          <p:cNvSpPr/>
          <p:nvPr/>
        </p:nvSpPr>
        <p:spPr>
          <a:xfrm>
            <a:off x="6035040" y="1280160"/>
            <a:ext cx="2606040" cy="1563624"/>
          </a:xfrm>
          <a:prstGeom prst="rect">
            <a:avLst/>
          </a:prstGeom>
          <a:ln w="12700">
            <a:solidFill>
              <a:schemeClr val="tx2"/>
            </a:solidFill>
            <a:prstDash val="solid"/>
          </a:ln>
        </p:spPr>
      </p:sp>
      <p:sp>
        <p:nvSpPr>
          <p:cNvPr id="11" name="caption Boom: a crater forever"/>
          <p:cNvSpPr txBox="1"/>
          <p:nvPr/>
        </p:nvSpPr>
        <p:spPr>
          <a:xfrm>
            <a:off x="6035040" y="2926080"/>
            <a:ext cx="2606040" cy="365760"/>
          </a:xfrm>
          <a:prstGeom prst="rect">
            <a:avLst/>
          </a:prstGeom>
          <a:noFill/>
          <a:ln/>
        </p:spPr>
        <p:txBody>
          <a:bodyPr wrap="square" lIns="0" tIns="0" rIns="0" bIns="0" rtlCol="0" anchor="ctr"/>
          <a:lstStyle/>
          <a:p>
            <a:pPr indent="0" marL="0">
              <a:buNone/>
            </a:pPr>
            <a:r>
              <a:rPr lang="en-US" sz="1400" dirty="0">
                <a:solidFill>
                  <a:schemeClr val="tx1"/>
                </a:solidFill>
              </a:rPr>
              <a:t>Boom: a crater forever</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What we'd do next</a:t>
            </a:r>
            <a:endParaRPr lang="en-US" sz="3200" dirty="0"/>
          </a:p>
        </p:txBody>
      </p:sp>
      <p:sp>
        <p:nvSpPr>
          <p:cNvPr id="3" name="Player trading card"/>
          <p:cNvSpPr/>
          <p:nvPr/>
        </p:nvSpPr>
        <p:spPr>
          <a:xfrm>
            <a:off x="457200" y="1188720"/>
            <a:ext cx="2606040" cy="1371600"/>
          </a:xfrm>
          <a:prstGeom prst="rect">
            <a:avLst/>
          </a:prstGeom>
          <a:solidFill>
            <a:schemeClr val="bg2"/>
          </a:solidFill>
          <a:ln/>
        </p:spPr>
      </p:sp>
      <p:sp>
        <p:nvSpPr>
          <p:cNvPr id="4" name="Player trading title"/>
          <p:cNvSpPr txBox="1"/>
          <p:nvPr/>
        </p:nvSpPr>
        <p:spPr>
          <a:xfrm>
            <a:off x="640080" y="1353312"/>
            <a:ext cx="2240280" cy="411480"/>
          </a:xfrm>
          <a:prstGeom prst="rect">
            <a:avLst/>
          </a:prstGeom>
          <a:noFill/>
          <a:ln/>
        </p:spPr>
        <p:txBody>
          <a:bodyPr wrap="square" lIns="0" tIns="0" rIns="0" bIns="0" rtlCol="0" anchor="ctr"/>
          <a:lstStyle/>
          <a:p>
            <a:pPr indent="0" marL="0">
              <a:buNone/>
            </a:pPr>
            <a:r>
              <a:rPr lang="en-US" sz="1800" b="1" dirty="0">
                <a:solidFill>
                  <a:schemeClr val="tx2"/>
                </a:solidFill>
              </a:rPr>
              <a:t>Player trading</a:t>
            </a:r>
            <a:endParaRPr lang="en-US" sz="1800" dirty="0"/>
          </a:p>
        </p:txBody>
      </p:sp>
      <p:sp>
        <p:nvSpPr>
          <p:cNvPr id="5" name="Player trading text"/>
          <p:cNvSpPr txBox="1"/>
          <p:nvPr/>
        </p:nvSpPr>
        <p:spPr>
          <a:xfrm>
            <a:off x="640080" y="1783080"/>
            <a:ext cx="2240280" cy="640080"/>
          </a:xfrm>
          <a:prstGeom prst="rect">
            <a:avLst/>
          </a:prstGeom>
          <a:noFill/>
          <a:ln/>
        </p:spPr>
        <p:txBody>
          <a:bodyPr wrap="square" lIns="0" tIns="0" rIns="0" bIns="0" rtlCol="0" anchor="t"/>
          <a:lstStyle/>
          <a:p>
            <a:pPr indent="0" marL="0">
              <a:buNone/>
            </a:pPr>
            <a:r>
              <a:rPr lang="en-US" sz="1400" dirty="0">
                <a:solidFill>
                  <a:schemeClr val="tx1"/>
                </a:solidFill>
              </a:rPr>
              <a:t>Right now you can only trade with the bank</a:t>
            </a:r>
            <a:endParaRPr lang="en-US" sz="1400" dirty="0"/>
          </a:p>
        </p:txBody>
      </p:sp>
      <p:sp>
        <p:nvSpPr>
          <p:cNvPr id="6" name="Smarter bots card"/>
          <p:cNvSpPr/>
          <p:nvPr/>
        </p:nvSpPr>
        <p:spPr>
          <a:xfrm>
            <a:off x="3246120" y="1188720"/>
            <a:ext cx="2606040" cy="1371600"/>
          </a:xfrm>
          <a:prstGeom prst="rect">
            <a:avLst/>
          </a:prstGeom>
          <a:solidFill>
            <a:schemeClr val="bg2"/>
          </a:solidFill>
          <a:ln/>
        </p:spPr>
      </p:sp>
      <p:sp>
        <p:nvSpPr>
          <p:cNvPr id="7" name="Smarter bots title"/>
          <p:cNvSpPr txBox="1"/>
          <p:nvPr/>
        </p:nvSpPr>
        <p:spPr>
          <a:xfrm>
            <a:off x="3429000" y="1353312"/>
            <a:ext cx="2240280" cy="411480"/>
          </a:xfrm>
          <a:prstGeom prst="rect">
            <a:avLst/>
          </a:prstGeom>
          <a:noFill/>
          <a:ln/>
        </p:spPr>
        <p:txBody>
          <a:bodyPr wrap="square" lIns="0" tIns="0" rIns="0" bIns="0" rtlCol="0" anchor="ctr"/>
          <a:lstStyle/>
          <a:p>
            <a:pPr indent="0" marL="0">
              <a:buNone/>
            </a:pPr>
            <a:r>
              <a:rPr lang="en-US" sz="1800" b="1" dirty="0">
                <a:solidFill>
                  <a:schemeClr val="tx2"/>
                </a:solidFill>
              </a:rPr>
              <a:t>Smarter bots</a:t>
            </a:r>
            <a:endParaRPr lang="en-US" sz="1800" dirty="0"/>
          </a:p>
        </p:txBody>
      </p:sp>
      <p:sp>
        <p:nvSpPr>
          <p:cNvPr id="8" name="Smarter bots text"/>
          <p:cNvSpPr txBox="1"/>
          <p:nvPr/>
        </p:nvSpPr>
        <p:spPr>
          <a:xfrm>
            <a:off x="3429000" y="1783080"/>
            <a:ext cx="2240280" cy="640080"/>
          </a:xfrm>
          <a:prstGeom prst="rect">
            <a:avLst/>
          </a:prstGeom>
          <a:noFill/>
          <a:ln/>
        </p:spPr>
        <p:txBody>
          <a:bodyPr wrap="square" lIns="0" tIns="0" rIns="0" bIns="0" rtlCol="0" anchor="t"/>
          <a:lstStyle/>
          <a:p>
            <a:pPr indent="0" marL="0">
              <a:buNone/>
            </a:pPr>
            <a:r>
              <a:rPr lang="en-US" sz="1400" dirty="0">
                <a:solidFill>
                  <a:schemeClr val="tx1"/>
                </a:solidFill>
              </a:rPr>
              <a:t>Easy, normal and hard</a:t>
            </a:r>
            <a:endParaRPr lang="en-US" sz="1400" dirty="0"/>
          </a:p>
        </p:txBody>
      </p:sp>
      <p:sp>
        <p:nvSpPr>
          <p:cNvPr id="9" name="Phone layout card"/>
          <p:cNvSpPr/>
          <p:nvPr/>
        </p:nvSpPr>
        <p:spPr>
          <a:xfrm>
            <a:off x="6035040" y="1188720"/>
            <a:ext cx="2606040" cy="1371600"/>
          </a:xfrm>
          <a:prstGeom prst="rect">
            <a:avLst/>
          </a:prstGeom>
          <a:solidFill>
            <a:schemeClr val="bg2"/>
          </a:solidFill>
          <a:ln/>
        </p:spPr>
      </p:sp>
      <p:sp>
        <p:nvSpPr>
          <p:cNvPr id="10" name="Phone layout title"/>
          <p:cNvSpPr txBox="1"/>
          <p:nvPr/>
        </p:nvSpPr>
        <p:spPr>
          <a:xfrm>
            <a:off x="6217920" y="1353312"/>
            <a:ext cx="2240280" cy="411480"/>
          </a:xfrm>
          <a:prstGeom prst="rect">
            <a:avLst/>
          </a:prstGeom>
          <a:noFill/>
          <a:ln/>
        </p:spPr>
        <p:txBody>
          <a:bodyPr wrap="square" lIns="0" tIns="0" rIns="0" bIns="0" rtlCol="0" anchor="ctr"/>
          <a:lstStyle/>
          <a:p>
            <a:pPr indent="0" marL="0">
              <a:buNone/>
            </a:pPr>
            <a:r>
              <a:rPr lang="en-US" sz="1800" b="1" dirty="0">
                <a:solidFill>
                  <a:schemeClr val="tx2"/>
                </a:solidFill>
              </a:rPr>
              <a:t>Phone layout</a:t>
            </a:r>
            <a:endParaRPr lang="en-US" sz="1800" dirty="0"/>
          </a:p>
        </p:txBody>
      </p:sp>
      <p:sp>
        <p:nvSpPr>
          <p:cNvPr id="11" name="Phone layout text"/>
          <p:cNvSpPr txBox="1"/>
          <p:nvPr/>
        </p:nvSpPr>
        <p:spPr>
          <a:xfrm>
            <a:off x="6217920" y="1783080"/>
            <a:ext cx="2240280" cy="640080"/>
          </a:xfrm>
          <a:prstGeom prst="rect">
            <a:avLst/>
          </a:prstGeom>
          <a:noFill/>
          <a:ln/>
        </p:spPr>
        <p:txBody>
          <a:bodyPr wrap="square" lIns="0" tIns="0" rIns="0" bIns="0" rtlCol="0" anchor="t"/>
          <a:lstStyle/>
          <a:p>
            <a:pPr indent="0" marL="0">
              <a:buNone/>
            </a:pPr>
            <a:r>
              <a:rPr lang="en-US" sz="1400" dirty="0">
                <a:solidFill>
                  <a:schemeClr val="tx1"/>
                </a:solidFill>
              </a:rPr>
              <a:t>Play holding your phone upright</a:t>
            </a:r>
            <a:endParaRPr lang="en-US" sz="1400" dirty="0"/>
          </a:p>
        </p:txBody>
      </p:sp>
      <p:sp>
        <p:nvSpPr>
          <p:cNvPr id="12" name="Music card"/>
          <p:cNvSpPr/>
          <p:nvPr/>
        </p:nvSpPr>
        <p:spPr>
          <a:xfrm>
            <a:off x="457200" y="2788920"/>
            <a:ext cx="2606040" cy="1371600"/>
          </a:xfrm>
          <a:prstGeom prst="rect">
            <a:avLst/>
          </a:prstGeom>
          <a:solidFill>
            <a:schemeClr val="bg2"/>
          </a:solidFill>
          <a:ln/>
        </p:spPr>
      </p:sp>
      <p:sp>
        <p:nvSpPr>
          <p:cNvPr id="13" name="Music title"/>
          <p:cNvSpPr txBox="1"/>
          <p:nvPr/>
        </p:nvSpPr>
        <p:spPr>
          <a:xfrm>
            <a:off x="640080" y="2953512"/>
            <a:ext cx="2240280" cy="411480"/>
          </a:xfrm>
          <a:prstGeom prst="rect">
            <a:avLst/>
          </a:prstGeom>
          <a:noFill/>
          <a:ln/>
        </p:spPr>
        <p:txBody>
          <a:bodyPr wrap="square" lIns="0" tIns="0" rIns="0" bIns="0" rtlCol="0" anchor="ctr"/>
          <a:lstStyle/>
          <a:p>
            <a:pPr indent="0" marL="0">
              <a:buNone/>
            </a:pPr>
            <a:r>
              <a:rPr lang="en-US" sz="1800" b="1" dirty="0">
                <a:solidFill>
                  <a:schemeClr val="tx2"/>
                </a:solidFill>
              </a:rPr>
              <a:t>Music</a:t>
            </a:r>
            <a:endParaRPr lang="en-US" sz="1800" dirty="0"/>
          </a:p>
        </p:txBody>
      </p:sp>
      <p:sp>
        <p:nvSpPr>
          <p:cNvPr id="14" name="Music text"/>
          <p:cNvSpPr txBox="1"/>
          <p:nvPr/>
        </p:nvSpPr>
        <p:spPr>
          <a:xfrm>
            <a:off x="640080" y="3383280"/>
            <a:ext cx="2240280" cy="640080"/>
          </a:xfrm>
          <a:prstGeom prst="rect">
            <a:avLst/>
          </a:prstGeom>
          <a:noFill/>
          <a:ln/>
        </p:spPr>
        <p:txBody>
          <a:bodyPr wrap="square" lIns="0" tIns="0" rIns="0" bIns="0" rtlCol="0" anchor="t"/>
          <a:lstStyle/>
          <a:p>
            <a:pPr indent="0" marL="0">
              <a:buNone/>
            </a:pPr>
            <a:r>
              <a:rPr lang="en-US" sz="1400" dirty="0">
                <a:solidFill>
                  <a:schemeClr val="tx1"/>
                </a:solidFill>
              </a:rPr>
              <a:t>A proper chiptune soundtrack</a:t>
            </a:r>
            <a:endParaRPr lang="en-US" sz="1400" dirty="0"/>
          </a:p>
        </p:txBody>
      </p:sp>
      <p:sp>
        <p:nvSpPr>
          <p:cNvPr id="15" name="Save and resume card"/>
          <p:cNvSpPr/>
          <p:nvPr/>
        </p:nvSpPr>
        <p:spPr>
          <a:xfrm>
            <a:off x="3246120" y="2788920"/>
            <a:ext cx="2606040" cy="1371600"/>
          </a:xfrm>
          <a:prstGeom prst="rect">
            <a:avLst/>
          </a:prstGeom>
          <a:solidFill>
            <a:schemeClr val="bg2"/>
          </a:solidFill>
          <a:ln/>
        </p:spPr>
      </p:sp>
      <p:sp>
        <p:nvSpPr>
          <p:cNvPr id="16" name="Save and resume title"/>
          <p:cNvSpPr txBox="1"/>
          <p:nvPr/>
        </p:nvSpPr>
        <p:spPr>
          <a:xfrm>
            <a:off x="3429000" y="2953512"/>
            <a:ext cx="2240280" cy="411480"/>
          </a:xfrm>
          <a:prstGeom prst="rect">
            <a:avLst/>
          </a:prstGeom>
          <a:noFill/>
          <a:ln/>
        </p:spPr>
        <p:txBody>
          <a:bodyPr wrap="square" lIns="0" tIns="0" rIns="0" bIns="0" rtlCol="0" anchor="ctr"/>
          <a:lstStyle/>
          <a:p>
            <a:pPr indent="0" marL="0">
              <a:buNone/>
            </a:pPr>
            <a:r>
              <a:rPr lang="en-US" sz="1800" b="1" dirty="0">
                <a:solidFill>
                  <a:schemeClr val="tx2"/>
                </a:solidFill>
              </a:rPr>
              <a:t>Save and resume</a:t>
            </a:r>
            <a:endParaRPr lang="en-US" sz="1800" dirty="0"/>
          </a:p>
        </p:txBody>
      </p:sp>
      <p:sp>
        <p:nvSpPr>
          <p:cNvPr id="17" name="Save and resume text"/>
          <p:cNvSpPr txBox="1"/>
          <p:nvPr/>
        </p:nvSpPr>
        <p:spPr>
          <a:xfrm>
            <a:off x="3429000" y="3383280"/>
            <a:ext cx="2240280" cy="640080"/>
          </a:xfrm>
          <a:prstGeom prst="rect">
            <a:avLst/>
          </a:prstGeom>
          <a:noFill/>
          <a:ln/>
        </p:spPr>
        <p:txBody>
          <a:bodyPr wrap="square" lIns="0" tIns="0" rIns="0" bIns="0" rtlCol="0" anchor="t"/>
          <a:lstStyle/>
          <a:p>
            <a:pPr indent="0" marL="0">
              <a:buNone/>
            </a:pPr>
            <a:r>
              <a:rPr lang="en-US" sz="1400" dirty="0">
                <a:solidFill>
                  <a:schemeClr val="tx1"/>
                </a:solidFill>
              </a:rPr>
              <a:t>Pick a game back up later</a:t>
            </a:r>
            <a:endParaRPr lang="en-US" sz="1400" dirty="0"/>
          </a:p>
        </p:txBody>
      </p:sp>
      <p:sp>
        <p:nvSpPr>
          <p:cNvPr id="18" name="Colour-blind mode card"/>
          <p:cNvSpPr/>
          <p:nvPr/>
        </p:nvSpPr>
        <p:spPr>
          <a:xfrm>
            <a:off x="6035040" y="2788920"/>
            <a:ext cx="2606040" cy="1371600"/>
          </a:xfrm>
          <a:prstGeom prst="rect">
            <a:avLst/>
          </a:prstGeom>
          <a:solidFill>
            <a:schemeClr val="bg2"/>
          </a:solidFill>
          <a:ln/>
        </p:spPr>
      </p:sp>
      <p:sp>
        <p:nvSpPr>
          <p:cNvPr id="19" name="Colour-blind mode title"/>
          <p:cNvSpPr txBox="1"/>
          <p:nvPr/>
        </p:nvSpPr>
        <p:spPr>
          <a:xfrm>
            <a:off x="6217920" y="2953512"/>
            <a:ext cx="2240280" cy="411480"/>
          </a:xfrm>
          <a:prstGeom prst="rect">
            <a:avLst/>
          </a:prstGeom>
          <a:noFill/>
          <a:ln/>
        </p:spPr>
        <p:txBody>
          <a:bodyPr wrap="square" lIns="0" tIns="0" rIns="0" bIns="0" rtlCol="0" anchor="ctr"/>
          <a:lstStyle/>
          <a:p>
            <a:pPr indent="0" marL="0">
              <a:buNone/>
            </a:pPr>
            <a:r>
              <a:rPr lang="en-US" sz="1800" b="1" dirty="0">
                <a:solidFill>
                  <a:schemeClr val="tx2"/>
                </a:solidFill>
              </a:rPr>
              <a:t>Colour-blind mode</a:t>
            </a:r>
            <a:endParaRPr lang="en-US" sz="1800" dirty="0"/>
          </a:p>
        </p:txBody>
      </p:sp>
      <p:sp>
        <p:nvSpPr>
          <p:cNvPr id="20" name="Colour-blind mode text"/>
          <p:cNvSpPr txBox="1"/>
          <p:nvPr/>
        </p:nvSpPr>
        <p:spPr>
          <a:xfrm>
            <a:off x="6217920" y="3383280"/>
            <a:ext cx="2240280" cy="640080"/>
          </a:xfrm>
          <a:prstGeom prst="rect">
            <a:avLst/>
          </a:prstGeom>
          <a:noFill/>
          <a:ln/>
        </p:spPr>
        <p:txBody>
          <a:bodyPr wrap="square" lIns="0" tIns="0" rIns="0" bIns="0" rtlCol="0" anchor="t"/>
          <a:lstStyle/>
          <a:p>
            <a:pPr indent="0" marL="0">
              <a:buNone/>
            </a:pPr>
            <a:r>
              <a:rPr lang="en-US" sz="1400" dirty="0">
                <a:solidFill>
                  <a:schemeClr val="tx1"/>
                </a:solidFill>
              </a:rPr>
              <a:t>Patterns on top of player colours</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572000" cy="914400"/>
          </a:xfrm>
          <a:prstGeom prst="rect">
            <a:avLst/>
          </a:prstGeom>
          <a:noFill/>
          <a:ln/>
        </p:spPr>
        <p:txBody>
          <a:bodyPr wrap="square" lIns="0" tIns="0" rIns="0" bIns="0" rtlCol="0" anchor="b"/>
          <a:lstStyle/>
          <a:p>
            <a:pPr algn="l" indent="0" marL="0">
              <a:buNone/>
            </a:pPr>
            <a:r>
              <a:rPr lang="en-US" sz="4400" b="1" dirty="0">
                <a:solidFill>
                  <a:schemeClr val="bg1"/>
                </a:solidFill>
              </a:rPr>
              <a:t>Questions?</a:t>
            </a:r>
            <a:endParaRPr lang="en-US" sz="4400" dirty="0"/>
          </a:p>
        </p:txBody>
      </p:sp>
      <p:sp>
        <p:nvSpPr>
          <p:cNvPr id="3" name="Text 0"/>
          <p:cNvSpPr/>
          <p:nvPr>
            <p:ph idx="101" type="body" hasCustomPrompt="1"/>
          </p:nvPr>
        </p:nvSpPr>
        <p:spPr>
          <a:xfrm>
            <a:off x="548640" y="2148840"/>
            <a:ext cx="4572000" cy="1645920"/>
          </a:xfrm>
          <a:prstGeom prst="rect">
            <a:avLst/>
          </a:prstGeom>
          <a:noFill/>
          <a:ln/>
        </p:spPr>
        <p:txBody>
          <a:bodyPr wrap="square" lIns="0" tIns="0" rIns="0" bIns="0" rtlCol="0" anchor="t"/>
          <a:lstStyle/>
          <a:p>
            <a:pPr algn="l" indent="0" marL="0">
              <a:buNone/>
            </a:pPr>
            <a:r>
              <a:rPr lang="en-US" sz="2000" dirty="0">
                <a:solidFill>
                  <a:schemeClr val="bg1"/>
                </a:solidFill>
              </a:rPr>
              <a:t>Thanks for listening!</a:t>
            </a:r>
            <a:endParaRPr lang="en-US" sz="2000" dirty="0"/>
          </a:p>
          <a:p>
            <a:pPr algn="l" indent="0" marL="0">
              <a:buNone/>
            </a:pPr>
            <a:r>
              <a:rPr lang="en-US" sz="2000" dirty="0">
                <a:solidFill>
                  <a:schemeClr val="accent2"/>
                </a:solidFill>
              </a:rPr>
              <a:t>memara719.github.io/kingsfold/isotopia</a:t>
            </a:r>
            <a:endParaRPr lang="en-US" sz="2000" dirty="0"/>
          </a:p>
        </p:txBody>
      </p:sp>
      <p:pic>
        <p:nvPicPr>
          <p:cNvPr id="4" name="The bomb going off" descr="The bomb going off">    </p:cNvPr>
          <p:cNvPicPr>
            <a:picLocks noChangeAspect="1"/>
          </p:cNvPicPr>
          <p:nvPr/>
        </p:nvPicPr>
        <p:blipFill>
          <a:blip r:embed="rId1"/>
          <a:stretch>
            <a:fillRect/>
          </a:stretch>
        </p:blipFill>
        <p:spPr>
          <a:xfrm>
            <a:off x="5029200" y="1188720"/>
            <a:ext cx="3657600" cy="2194560"/>
          </a:xfrm>
          <a:prstGeom prst="rect">
            <a:avLst/>
          </a:prstGeom>
        </p:spPr>
      </p:pic>
      <p:sp>
        <p:nvSpPr>
          <p:cNvPr id="5" name="The bomb going off frame"/>
          <p:cNvSpPr/>
          <p:nvPr/>
        </p:nvSpPr>
        <p:spPr>
          <a:xfrm>
            <a:off x="5029200" y="1188720"/>
            <a:ext cx="3657600" cy="2194560"/>
          </a:xfrm>
          <a:prstGeom prst="rect">
            <a:avLst/>
          </a:prstGeom>
          <a:ln w="12700">
            <a:solidFill>
              <a:schemeClr val="tx2"/>
            </a:solidFill>
            <a:prstDash val="solid"/>
          </a:ln>
        </p:spPr>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Isotopia">
  <a:themeElements>
    <a:clrScheme name="Isotopia">
      <a:dk1>
        <a:srgbClr val="1F2433"/>
      </a:dk1>
      <a:lt1>
        <a:srgbClr val="FFFFFF"/>
      </a:lt1>
      <a:dk2>
        <a:srgbClr val="1B2559"/>
      </a:dk2>
      <a:lt2>
        <a:srgbClr val="EEF2F8"/>
      </a:lt2>
      <a:accent1>
        <a:srgbClr val="4FA33F"/>
      </a:accent1>
      <a:accent2>
        <a:srgbClr val="F2C230"/>
      </a:accent2>
      <a:accent3>
        <a:srgbClr val="D9493A"/>
      </a:accent3>
      <a:accent4>
        <a:srgbClr val="3E6FD8"/>
      </a:accent4>
      <a:accent5>
        <a:srgbClr val="8C93A8"/>
      </a:accent5>
      <a:accent6>
        <a:srgbClr val="F7E27A"/>
      </a:accent6>
      <a:hlink>
        <a:srgbClr val="3E6FD8"/>
      </a:hlink>
      <a:folHlink>
        <a:srgbClr val="6C4BB0"/>
      </a:folHlink>
    </a:clrScheme>
    <a:fontScheme name="Isotopi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Isotopia</dc:title>
  <dc:subject>PptxGenJS Presentation</dc:subject>
  <dc:creator>SEC 2026 team</dc:creator>
  <cp:lastModifiedBy>SEC 2026 team</cp:lastModifiedBy>
  <cp:revision>1</cp:revision>
  <dcterms:created xsi:type="dcterms:W3CDTF">2026-10-24T22:38:39Z</dcterms:created>
  <dcterms:modified xsi:type="dcterms:W3CDTF">2026-10-24T22:38:39Z</dcterms:modified>
</cp:coreProperties>
</file>